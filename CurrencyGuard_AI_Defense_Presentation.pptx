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 Yukta Vishnoi and members of the evaluation committee. Welcome to our AI Laboratory mini-project defense. Our project is titled 'Real-Time Currency Note Recognition and Counterfeit Feature Checker'. I am Soham, presenting alongside my project partners Ethan and Harshi. Our work addresses the persistent challenge of detecting counterfeit banknotes in retail environments by formulating an intelligent autonomous agent. Over the next 10 minutes, strictly divided into 3 minutes and 20 seconds per speaker, we will walk you through the formal PEAS agent modeling, the computer vision perspective rectification pipeline, our supervised Decision Tree and unsupervised K-Means machine learning algorithms for CO4, and the forward-chaining expert system engine for CO3. I will begin by presenting the problem motivation, agent specification, and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2: Why is automated currency verification critical? Despite rapid digital payment growth, cash remains foundational to India's retail ecosystem. However, modern counterfeiters no longer produce crude fakes; they leverage high-resolution digital reprography and chemical toner matching to emulate the visual appearance of genuine Mahatma Gandhi New Series notes. Commercial banks protect themselves using heavy currency sorters equipped with UV, magnetic, and infrared sensors. But these machines cost between 50,000 and 2 lakh rupees. A typical neighborhood retailer, restaurant, or micro-merchant simply cannot justify that capital expenditure. They are left completely unprotected against counterfeit losses. Our objective with CurrencyGuard AI is to eliminate this hardware barrier entirely. By utilizing standard optical webcams combined with intelligent computer vision and machine learning, we deliver real-time, bank-grade currency verification at near-zero hardware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directly fulfills Course Outcome 1, which requires formal modeling of an intelligent rational agent using the PEAS framework. First, our Performance measure demands greater than 95% denomination accuracy, greater than 90% counterfeit detection sensitivity, and a strict latency budget under 200 milliseconds to enable real-time video feedback. Second, the Environment is a realistic retail desk. The agent must handle variable camera tilt, hand tremors, and dramatic lighting variations from warm incandescent 2700 Kelvin bulbs to bright daylight. Third, our Actuators consist of an interactive user interface featuring a live rectified video overlay, an instantaneous tri-color verdict banner—Green for genuine, Yellow for suspicious, and Red for counterfeit—and an itemized diagnostic checklist. Finally, the Sensors are strictly consumer optical RGB webcams and digital image upload feeds. Under Russell and Norvig's taxonomy, the environment is partially observable at the raw camera level, but transformed into fully observable once our homography transformation unwarps the note. It is deterministic because identical features yield identical rule firings, static during the single-frame processing cycle, discrete in its categorical verdicts, and operates as a single-agent rational inspector.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Concluding Section 1 on slide 4, here is our complete system architecture and data flow. The architecture operates across four tightly integrated stages. In Stage 1, raw frames from the webcam pass through bilateral smoothing and adaptive Canny edge detection. The outer contour is isolated, and a four-point perspective homography warp normalizes the angled note into a standard 600 by 270 pixel canonical canvas. In Stage 2, our dual machine learning engine kicks in: a supervised CART Decision Tree classifies the denomination using statistical color moments, while an unsupervised K-Means clustering algorithm in 6D color space segments the metallic security thread. In Stage 3, these extracted metrics are asserted as facts into our forward-chaining expert system, which evaluates official RBI production rules governing aspect ratios, thread continuity, color envelopes, and watermark variance. Finally, Stage 4 displays the live tri-color verdict and complete forensic audit checklist on our Streamlit dashboard. With this architecture established, I will now hand over to Ethan to explain the computer vision mathematics and machine learning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Soham. I am Ethan, and I will be walking you through the computer vision and machine learning core of our system. On slide 5, we examine the computer vision preprocessing pipeline. In a real-world setting, users do not present currency flat on a calibrated scanner; they hold it in their hands, tilted at arbitrary angles under varying desk lights. To solve this, our first step applies a Bilateral filter with diameter 7 and sigma 50. Unlike standard Gaussian blurring which smears fine borders, the bilateral filter smooths paper grain while keeping banknote edges sharp. Next, we use adaptive Canny edge detection with dynamic Otsu median bounds, followed by a morphological close to seal broken perimeters. To handle cases where a user's thumb occludes part of the note, we compute the convex hull before applying the Douglas-Peucker polygon approximation. This reliably extracts the four extreme corner coordinates. Using OpenCV's getPerspectiveTransform, we compute the 3 by 3 homography matrix H to warp the angled quadrilateral into a canonical 600 by 270 pixel plane. Finally, we apply Gray-World color constancy to eliminate warm incandescent room lighting casts, and an auto-orientation check that detects whether the note is upside down and rotates it back to the canonical front 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6, we address the unsupervised machine learning component of Course Outcome 4: isolating the metallic security thread. The security thread is one of the most sophisticated anti-counterfeiting features on Indian currency. In genuine notes, it is a windowed metallic ribbon embedded into the paper pulp, containing micro-lettering 'RBI' and 'भारत'. Because metallic luster produces complex optical glints depending on room lighting, simple intensity thresholding fails completely. Instead, we extract a 6-dimensional feature vector for each pixel in the candidate strip corridor, combining RGB color channels with HSV chromaticity. We apply K-Means clustering with k equals 3. The algorithm autonomously partitions the patch into metallic ribbon pixels, paper substrate, and dark intaglio printing. We then calculate the Vertical Continuity Index, which measures the percentage of horizontal scanlines containing detected metallic pixels. Under backlighting, a genuine note shows a continuous solid black line with over 80% continuity. Under normal reflected desk light, the thread appears as windowed dashes on the front surface. Our updated algorithm detects these periodic dashes—verifying between 3 and 8 windows. Photocopied notes, which only print superficial yellow-green dashes without metallic reflectance, fail this continuity test and are immediately flagged.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the comprehensive supervised machine learning suite fulfilling Course Outcome 4. Our system employs two distinct AI models. First, for denomination recognition, we deploy a CART Decision Tree trained with entropy information gain. Operating on 7-dimensional statistical color moments, it achieves 97.5% accuracy in under 0.8 milliseconds. Second, for genuine versus counterfeit detection, we developed a 4-architecture Supervised Counterfeit AI Suite. This includes a Soft-Voting Calibrated Ensemble that combines a 120-tree Random Forest, a Deep Multi-Layer Perceptron neural network with 64-32-16 ReLU layers, and Gradient Boosted Decision Trees. Trained on a balanced dataset of 3,200 forensic samples across four denominations, our Ensemble achieves 100% holdout accuracy and 99.92% 5-fold cross-validation. The model ingests 16 standardized forensic features, including Shannon texture entropy of the watermark paper fibers, CIE-Lab color Delta-E, and intaglio microtexture edge density. Furthermore, our Explainable AI engine produces localized feature attribution rankings, ensuring cashiers and auditors understand the exact physical defect responsible for any rejection.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present the expert systems reasoning core corresponding to Course Outcome 3: our forward-chaining inference engine with neuro-symbolic consensus. Once computer vision and machine learning extract physical measurements, they are asserted as facts into Working Memory. The expert system activates an agenda of five formal production rules: Rule 1 checks physical dimension fidelity against standard aspect ratios. Rule 2 verifies security thread continuity across transmitted and reflected lighting modes. Rule 3 evaluates substrate chromaticity envelopes to detect altered toner dyes. Rule 4 inspects watermark latent variance and dynamic range to verify genuine paper pulp density. And Rule 5 integrates our Supervised AI Counterfeit Classifier, ensuring high-order feature correlations are confirmed. Our conflict resolution engine uses a Neuro-Symbolic consensus model: When expert rules and the AI model concur with a score above 85%, the note is certified GENUINE. If rules and the AI diverge, it triggers a SUSPICIOUS advisory. Any critical defect or low AI probability triggers an immediate COUNTERFEIT alert. I will now pass the presentation to Harshi, who will demonstrate the user interface, empirical benchmarks, and conclude our defense.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Ethan. Good morning Prof. Yukta Vishnoi and committee. I am Harshi, and I will be presenting the user interface, empirical benchmark results, and project conclusion. On slide 9, we showcase our interactive forensic dashboard built in Streamlit. A critical principle of Course Outcome 3 is that an expert system must not only reach correct conclusions, but also communicate them effectively to human decision-makers. Our dashboard features three operational panels. On the left, the live camera HUD tracks the banknote contour in real time, showing the operator exactly where the corners are detected and displaying the unwarped canonical 600 by 270 canvas. In the center, an unmissable Tri-Color Verdict Banner immediately signals the result: bold emerald green for Genuine, amber yellow for Suspicious notes that have heavy soil or folds, and crimson red for Counterfeits. We also integrated automated audio alarms, so cashiers don't even need to look at the screen during rapid checkout. On the right, a forensic audit checklist displays every single rule, showing the exact measured aspect ratio, thread continuity, and watermark variance compared against the RBI reference standards. The interface also provides manual rotation overrides and a lighting mode toggle between normal reflected light and backlit torch mode.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10, we present our rigorous empirical benchmarking results. To evaluate CurrencyGuard AI under genuine operational conditions, we assembled a physical test dataset of 120 specimens. This includes 80 genuine banknotes across ₹100, ₹200, ₹500, and ₹2000 denominations—spanning crisp uncirculated notes, heavily soiled notes, creased specimens, and folded currency—along with 40 adversarial counterfeit mockups including high-res color laser copies, broken-thread mockups, and plain paper reproductions. As seen in Table 10.1, our overall denomination recognition accuracy reached 97.2%. In counterfeit detection, the system achieved a precision of 92.5% and a recall of 90.0%. In retail security, high precision is vital to ensure genuine cash from honest customers is not falsely seized, while high recall guarantees that counterfeiters cannot easily pass fraudulent notes. Crucially, our end-to-end processing pipeline averages 142 milliseconds per frame—equivalent to roughly 7 frames per second on an ordinary consumer Intel Core i5 processor without requiring any GPU.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11, we detail the individual work distribution and curriculum mapping across our group of three. Each member assumed dedicated ownership of distinct modules aligned directly with the B.Tech AI Lab course outcomes. Soham led Module 1, establishing the theoretical PEAS agent formulation for CO1, and developing the computer vision homography rectification, bilateral filtering, and Gray-World color constancy algorithms. Ethan led Modules 2 and 5, tackling CO4 through both supervised and unsupervised paradigms: building the CART Decision Tree denomination classifier and the unsupervised 6D K-Means clustering algorithm for metallic thread segmentation. I led Modules 3 and 4, designing the forward-chaining expert system engine for CO3 with formal RBI production rules and penalty resolution, building the interactive Streamlit forensic dashboard and Web Audio alarm system, and conducting empirical benchmarking across 120 physical test notes. This clear modular distribution allowed parallel development while maintaining cohesive integration across the entire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Concluding our presentation on slide 12: CurrencyGuard AI demonstrates that intelligent computer vision and classical AI algorithms can successfully bridge the gap between expensive industrial sorting hardware and the needs of everyday retail merchants. By synthesizing PEAS agent modeling for CO1, forward-chaining expert systems for CO3, and supervised CART trees alongside unsupervised K-Means clustering for CO4, we have created an end-to-end, real-time system that is both accurate and completely auditable. Looking forward, our engineering roadmap includes adding an inexpensive USB-powered 365 nm UV-A LED ring to excite security fibers, exporting our pipeline to ONNX for embedded deployment on Raspberry Pi edge terminals, and integrating CRNN OCR to read micro-lettering along the security ribbon. On behalf of Soham, Ethan, and myself, we thank Prof. Yukta Vishnoi for her guidance throughout this semester. We are now ready and look forward to answering your questions during the viva examination.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1371600" y="548640"/>
            <a:ext cx="9445752" cy="411480"/>
          </a:xfrm>
          <a:prstGeom prst="roundRect">
            <a:avLst/>
          </a:prstGeom>
          <a:solidFill>
            <a:srgbClr val="182235"/>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latin typeface="Arial"/>
              </a:defRPr>
            </a:pPr>
            <a:r>
              <a:t>MUKESH PATEL SCHOOL OF TECHNOLOGY MANAGEMENT &amp; ENGINEERING (MPSTME), MUMBAI</a:t>
            </a:r>
          </a:p>
        </p:txBody>
      </p:sp>
      <p:sp>
        <p:nvSpPr>
          <p:cNvPr id="3" name="TextBox 2"/>
          <p:cNvSpPr txBox="1"/>
          <p:nvPr/>
        </p:nvSpPr>
        <p:spPr>
          <a:xfrm>
            <a:off x="914400" y="1188720"/>
            <a:ext cx="10360152" cy="1645920"/>
          </a:xfrm>
          <a:prstGeom prst="rect">
            <a:avLst/>
          </a:prstGeom>
          <a:noFill/>
        </p:spPr>
        <p:txBody>
          <a:bodyPr wrap="square">
            <a:spAutoFit/>
          </a:bodyPr>
          <a:lstStyle/>
          <a:p>
            <a:pPr algn="ctr">
              <a:spcAft>
                <a:spcPts val="800"/>
              </a:spcAft>
              <a:defRPr sz="2800" b="1">
                <a:solidFill>
                  <a:srgbClr val="F8FAFC"/>
                </a:solidFill>
                <a:latin typeface="Arial"/>
              </a:defRPr>
            </a:pPr>
            <a:r>
              <a:t>Real-Time Currency Note Recognition &amp;</a:t>
            </a:r>
            <a:br/>
            <a:r>
              <a:t>Counterfeit Feature Checker</a:t>
            </a:r>
          </a:p>
          <a:p>
            <a:pPr algn="ctr">
              <a:defRPr sz="1300" i="1">
                <a:solidFill>
                  <a:srgbClr val="A5F3FC"/>
                </a:solidFill>
                <a:latin typeface="Calibri"/>
              </a:defRPr>
            </a:pPr>
            <a:r>
              <a:t>An Autonomous Rational Agent Integrating Homography Rectification, Denomination Trees (CO4), Deep MLP &amp; Ensemble Counterfeit AI (CO4), and Neuro-Symbolic Expert Systems (CO3)</a:t>
            </a:r>
          </a:p>
        </p:txBody>
      </p:sp>
      <p:sp>
        <p:nvSpPr>
          <p:cNvPr id="4" name="Rounded Rectangle 3"/>
          <p:cNvSpPr/>
          <p:nvPr/>
        </p:nvSpPr>
        <p:spPr>
          <a:xfrm>
            <a:off x="2286000" y="2971800"/>
            <a:ext cx="7616952" cy="4572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8FAFC"/>
                </a:solidFill>
                <a:latin typeface="Arial"/>
              </a:defRPr>
            </a:pPr>
            <a:r>
              <a:t>B.Tech Artificial Intelligence Laboratory (AY 2026-27)  |  Project Mentor: Prof. Yukta Vishnoi</a:t>
            </a:r>
          </a:p>
        </p:txBody>
      </p:sp>
      <p:sp>
        <p:nvSpPr>
          <p:cNvPr id="5" name="Rounded Rectangle 4"/>
          <p:cNvSpPr/>
          <p:nvPr/>
        </p:nvSpPr>
        <p:spPr>
          <a:xfrm>
            <a:off x="914400" y="3657600"/>
            <a:ext cx="3328416" cy="265176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1600" b="1">
                <a:solidFill>
                  <a:srgbClr val="06B6D4"/>
                </a:solidFill>
                <a:latin typeface="Arial"/>
              </a:defRPr>
            </a:pPr>
            <a:r>
              <a:t>SOHAM</a:t>
            </a:r>
          </a:p>
          <a:p>
            <a:pPr>
              <a:spcAft>
                <a:spcPts val="600"/>
              </a:spcAft>
              <a:defRPr sz="1000">
                <a:solidFill>
                  <a:srgbClr val="94A3B8"/>
                </a:solidFill>
                <a:latin typeface="Arial"/>
              </a:defRPr>
            </a:pPr>
            <a:r>
              <a:t>Roll: 70012023001</a:t>
            </a:r>
          </a:p>
          <a:p>
            <a:pPr>
              <a:spcAft>
                <a:spcPts val="600"/>
              </a:spcAft>
              <a:defRPr sz="1100" b="1">
                <a:solidFill>
                  <a:srgbClr val="F8FAFC"/>
                </a:solidFill>
                <a:latin typeface="Arial"/>
              </a:defRPr>
            </a:pPr>
            <a:r>
              <a:t>Module 1: Computer Vision &amp; PEAS</a:t>
            </a:r>
          </a:p>
          <a:p>
            <a:pPr>
              <a:defRPr sz="1000">
                <a:solidFill>
                  <a:srgbClr val="94A3B8"/>
                </a:solidFill>
                <a:latin typeface="Calibri"/>
              </a:defRPr>
            </a:pPr>
            <a:r>
              <a:t>Bilateral filter, adaptive Canny, 4-point homography warp, illuminant constancy, PEAS rational agent model.</a:t>
            </a:r>
          </a:p>
        </p:txBody>
      </p:sp>
      <p:sp>
        <p:nvSpPr>
          <p:cNvPr id="6" name="Rounded Rectangle 5"/>
          <p:cNvSpPr/>
          <p:nvPr/>
        </p:nvSpPr>
        <p:spPr>
          <a:xfrm>
            <a:off x="4425696" y="3657600"/>
            <a:ext cx="3328416" cy="265176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1600" b="1">
                <a:solidFill>
                  <a:srgbClr val="10B981"/>
                </a:solidFill>
                <a:latin typeface="Arial"/>
              </a:defRPr>
            </a:pPr>
            <a:r>
              <a:t>ETHAN</a:t>
            </a:r>
          </a:p>
          <a:p>
            <a:pPr>
              <a:spcAft>
                <a:spcPts val="600"/>
              </a:spcAft>
              <a:defRPr sz="1000">
                <a:solidFill>
                  <a:srgbClr val="94A3B8"/>
                </a:solidFill>
                <a:latin typeface="Arial"/>
              </a:defRPr>
            </a:pPr>
            <a:r>
              <a:t>Roll: 70012023002</a:t>
            </a:r>
          </a:p>
          <a:p>
            <a:pPr>
              <a:spcAft>
                <a:spcPts val="600"/>
              </a:spcAft>
              <a:defRPr sz="1100" b="1">
                <a:solidFill>
                  <a:srgbClr val="F8FAFC"/>
                </a:solidFill>
                <a:latin typeface="Arial"/>
              </a:defRPr>
            </a:pPr>
            <a:r>
              <a:t>Module 2: Machine Learning Suite</a:t>
            </a:r>
          </a:p>
          <a:p>
            <a:pPr>
              <a:defRPr sz="1000">
                <a:solidFill>
                  <a:srgbClr val="94A3B8"/>
                </a:solidFill>
                <a:latin typeface="Calibri"/>
              </a:defRPr>
            </a:pPr>
            <a:r>
              <a:t>Supervised CART Tree (CO4), Deep MLP Neural Net &amp; Ensemble Counterfeit AI (CO4), K-Means 6D clustering.</a:t>
            </a:r>
          </a:p>
        </p:txBody>
      </p:sp>
      <p:sp>
        <p:nvSpPr>
          <p:cNvPr id="7" name="Rounded Rectangle 6"/>
          <p:cNvSpPr/>
          <p:nvPr/>
        </p:nvSpPr>
        <p:spPr>
          <a:xfrm>
            <a:off x="7936992" y="3657600"/>
            <a:ext cx="3328416" cy="265176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1600" b="1">
                <a:solidFill>
                  <a:srgbClr val="F59E0B"/>
                </a:solidFill>
                <a:latin typeface="Arial"/>
              </a:defRPr>
            </a:pPr>
            <a:r>
              <a:t>HARSHI</a:t>
            </a:r>
          </a:p>
          <a:p>
            <a:pPr>
              <a:spcAft>
                <a:spcPts val="600"/>
              </a:spcAft>
              <a:defRPr sz="1000">
                <a:solidFill>
                  <a:srgbClr val="94A3B8"/>
                </a:solidFill>
                <a:latin typeface="Arial"/>
              </a:defRPr>
            </a:pPr>
            <a:r>
              <a:t>Roll: 70012023003</a:t>
            </a:r>
          </a:p>
          <a:p>
            <a:pPr>
              <a:spcAft>
                <a:spcPts val="600"/>
              </a:spcAft>
              <a:defRPr sz="1100" b="1">
                <a:solidFill>
                  <a:srgbClr val="F8FAFC"/>
                </a:solidFill>
                <a:latin typeface="Arial"/>
              </a:defRPr>
            </a:pPr>
            <a:r>
              <a:t>Module 3 &amp; 4: Expert Rules &amp; UI</a:t>
            </a:r>
          </a:p>
          <a:p>
            <a:pPr>
              <a:defRPr sz="1000">
                <a:solidFill>
                  <a:srgbClr val="94A3B8"/>
                </a:solidFill>
                <a:latin typeface="Calibri"/>
              </a:defRPr>
            </a:pPr>
            <a:r>
              <a:t>Forward-chaining production rules (CO3), Streamlit forensic HUD, 120-specimen benchmark, audio alerts.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1: SOHAM | SPEAKER 1 (0:00 - 3:20)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02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01 | Problem Statement &amp; Practical Motivation</a:t>
            </a:r>
          </a:p>
        </p:txBody>
      </p:sp>
      <p:sp>
        <p:nvSpPr>
          <p:cNvPr id="5" name="Rounded Rectangle 4"/>
          <p:cNvSpPr/>
          <p:nvPr/>
        </p:nvSpPr>
        <p:spPr>
          <a:xfrm>
            <a:off x="731520" y="1554480"/>
            <a:ext cx="3328416" cy="3931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EF4444"/>
                </a:solidFill>
                <a:latin typeface="Arial"/>
              </a:defRPr>
            </a:pPr>
            <a:r>
              <a:t>The Counterfeiting Threat</a:t>
            </a:r>
          </a:p>
          <a:p>
            <a:pPr>
              <a:spcAft>
                <a:spcPts val="600"/>
              </a:spcAft>
            </a:pPr>
            <a:r>
              <a:rPr sz="1050" b="1">
                <a:solidFill>
                  <a:srgbClr val="A5F3FC"/>
                </a:solidFill>
                <a:latin typeface="Arial"/>
              </a:rPr>
              <a:t>• Micro-Reprography: </a:t>
            </a:r>
            <a:r>
              <a:rPr sz="1050">
                <a:solidFill>
                  <a:srgbClr val="F8FAFC"/>
                </a:solidFill>
                <a:latin typeface="Calibri"/>
              </a:rPr>
              <a:t>Advancements in commercial high-resolution color copiers &amp; chemical toning allow counterfeiters to produce visual replicas.</a:t>
            </a:r>
          </a:p>
          <a:p>
            <a:pPr>
              <a:spcAft>
                <a:spcPts val="600"/>
              </a:spcAft>
            </a:pPr>
            <a:r>
              <a:rPr sz="1050" b="1">
                <a:solidFill>
                  <a:srgbClr val="A5F3FC"/>
                </a:solidFill>
                <a:latin typeface="Arial"/>
              </a:rPr>
              <a:t>• Retail Vulnerability: </a:t>
            </a:r>
            <a:r>
              <a:rPr sz="1050">
                <a:solidFill>
                  <a:srgbClr val="F8FAFC"/>
                </a:solidFill>
                <a:latin typeface="Calibri"/>
              </a:rPr>
              <a:t>Cash transactions dominate Indian retail. RBI reports continuous circulation of fake ₹100, ₹200, and ₹500 denomination notes.</a:t>
            </a:r>
          </a:p>
          <a:p>
            <a:pPr>
              <a:spcAft>
                <a:spcPts val="600"/>
              </a:spcAft>
            </a:pPr>
            <a:r>
              <a:rPr sz="1050" b="1">
                <a:solidFill>
                  <a:srgbClr val="A5F3FC"/>
                </a:solidFill>
                <a:latin typeface="Arial"/>
              </a:rPr>
              <a:t>• Human Error: </a:t>
            </a:r>
            <a:r>
              <a:rPr sz="1050">
                <a:solidFill>
                  <a:srgbClr val="F8FAFC"/>
                </a:solidFill>
                <a:latin typeface="Calibri"/>
              </a:rPr>
              <a:t>Cashiers operating in fast-paced retail cannot reliably inspect micro-features, thread continuity, and watermarks manually under pressure.</a:t>
            </a:r>
          </a:p>
        </p:txBody>
      </p:sp>
      <p:sp>
        <p:nvSpPr>
          <p:cNvPr id="6" name="Rounded Rectangle 5"/>
          <p:cNvSpPr/>
          <p:nvPr/>
        </p:nvSpPr>
        <p:spPr>
          <a:xfrm>
            <a:off x="4425696" y="1554480"/>
            <a:ext cx="3328416" cy="3931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Hardware Sorter Bottlenecks</a:t>
            </a:r>
          </a:p>
          <a:p>
            <a:pPr>
              <a:spcAft>
                <a:spcPts val="600"/>
              </a:spcAft>
            </a:pPr>
            <a:r>
              <a:rPr sz="1050" b="1">
                <a:solidFill>
                  <a:srgbClr val="A5F3FC"/>
                </a:solidFill>
                <a:latin typeface="Arial"/>
              </a:rPr>
              <a:t>• Prohibitive Cost: </a:t>
            </a:r>
            <a:r>
              <a:rPr sz="1050">
                <a:solidFill>
                  <a:srgbClr val="F8FAFC"/>
                </a:solidFill>
                <a:latin typeface="Calibri"/>
              </a:rPr>
              <a:t>Industrial banknote sorters cost ₹50,000 to ₹2,00,000 per unit, making them unaffordable for small merchants and local Kirana stores.</a:t>
            </a:r>
          </a:p>
          <a:p>
            <a:pPr>
              <a:spcAft>
                <a:spcPts val="600"/>
              </a:spcAft>
            </a:pPr>
            <a:r>
              <a:rPr sz="1050" b="1">
                <a:solidFill>
                  <a:srgbClr val="A5F3FC"/>
                </a:solidFill>
                <a:latin typeface="Arial"/>
              </a:rPr>
              <a:t>• Sensor Reliance: </a:t>
            </a:r>
            <a:r>
              <a:rPr sz="1050">
                <a:solidFill>
                  <a:srgbClr val="F8FAFC"/>
                </a:solidFill>
                <a:latin typeface="Calibri"/>
              </a:rPr>
              <a:t>Hardware counters require specialized ultraviolet fluoroscopy, magnetic ink sensors, and infrared metameric sensors.</a:t>
            </a:r>
          </a:p>
          <a:p>
            <a:pPr>
              <a:spcAft>
                <a:spcPts val="600"/>
              </a:spcAft>
            </a:pPr>
            <a:r>
              <a:rPr sz="1050" b="1">
                <a:solidFill>
                  <a:srgbClr val="A5F3FC"/>
                </a:solidFill>
                <a:latin typeface="Arial"/>
              </a:rPr>
              <a:t>• Form Factor: </a:t>
            </a:r>
            <a:r>
              <a:rPr sz="1050">
                <a:solidFill>
                  <a:srgbClr val="F8FAFC"/>
                </a:solidFill>
                <a:latin typeface="Calibri"/>
              </a:rPr>
              <a:t>Bulky tabletop footprint prevents portability and mobile handheld deployment across point-of-sale (POS) registers.</a:t>
            </a:r>
          </a:p>
        </p:txBody>
      </p:sp>
      <p:sp>
        <p:nvSpPr>
          <p:cNvPr id="7" name="Rounded Rectangle 6"/>
          <p:cNvSpPr/>
          <p:nvPr/>
        </p:nvSpPr>
        <p:spPr>
          <a:xfrm>
            <a:off x="8119872" y="1554480"/>
            <a:ext cx="3328416" cy="3931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The CurrencyGuard AI Solution</a:t>
            </a:r>
          </a:p>
          <a:p>
            <a:pPr>
              <a:spcAft>
                <a:spcPts val="600"/>
              </a:spcAft>
            </a:pPr>
            <a:r>
              <a:rPr sz="1050" b="1">
                <a:solidFill>
                  <a:srgbClr val="A5F3FC"/>
                </a:solidFill>
                <a:latin typeface="Arial"/>
              </a:rPr>
              <a:t>• Zero Dedicated Hardware: </a:t>
            </a:r>
            <a:r>
              <a:rPr sz="1050">
                <a:solidFill>
                  <a:srgbClr val="F8FAFC"/>
                </a:solidFill>
                <a:latin typeface="Calibri"/>
              </a:rPr>
              <a:t>Operates seamlessly on consumer-grade optical webcams and smartphone cameras costing under ₹1,500.</a:t>
            </a:r>
          </a:p>
          <a:p>
            <a:pPr>
              <a:spcAft>
                <a:spcPts val="600"/>
              </a:spcAft>
            </a:pPr>
            <a:r>
              <a:rPr sz="1050" b="1">
                <a:solidFill>
                  <a:srgbClr val="A5F3FC"/>
                </a:solidFill>
                <a:latin typeface="Arial"/>
              </a:rPr>
              <a:t>• Real-Time Latency: </a:t>
            </a:r>
            <a:r>
              <a:rPr sz="1050">
                <a:solidFill>
                  <a:srgbClr val="F8FAFC"/>
                </a:solidFill>
                <a:latin typeface="Calibri"/>
              </a:rPr>
              <a:t>Executes full computer vision rectification, dual-ML inference, and rule evaluation in ~142 ms (~7 FPS) on standard CPU.</a:t>
            </a:r>
          </a:p>
          <a:p>
            <a:pPr>
              <a:spcAft>
                <a:spcPts val="600"/>
              </a:spcAft>
            </a:pPr>
            <a:r>
              <a:rPr sz="1050" b="1">
                <a:solidFill>
                  <a:srgbClr val="A5F3FC"/>
                </a:solidFill>
                <a:latin typeface="Arial"/>
              </a:rPr>
              <a:t>• Auditable Intelligence: </a:t>
            </a:r>
            <a:r>
              <a:rPr sz="1050">
                <a:solidFill>
                  <a:srgbClr val="F8FAFC"/>
                </a:solidFill>
                <a:latin typeface="Calibri"/>
              </a:rPr>
              <a:t>Replaces black-box predictions with an interpretable forward-chaining expert system producing transparent forensic audit logs.</a:t>
            </a:r>
          </a:p>
        </p:txBody>
      </p:sp>
      <p:sp>
        <p:nvSpPr>
          <p:cNvPr id="8" name="Rounded Rectangle 7"/>
          <p:cNvSpPr/>
          <p:nvPr/>
        </p:nvSpPr>
        <p:spPr>
          <a:xfrm>
            <a:off x="731520" y="5669280"/>
            <a:ext cx="10716768" cy="594360"/>
          </a:xfrm>
          <a:prstGeom prst="roundRect">
            <a:avLst/>
          </a:prstGeom>
          <a:solidFill>
            <a:srgbClr val="18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5F3FC"/>
                </a:solidFill>
                <a:latin typeface="Arial"/>
              </a:defRPr>
            </a:pPr>
            <a:r>
              <a:t>CORE MISSION: Democractize bank-grade currency authentication for everyday merchants via explainable Artificial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1: SOHAM | SPEAKER 1 (0:00 - 3:20)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03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02 | Formal Agent Specification (PEAS Model - CO1)</a:t>
            </a:r>
          </a:p>
        </p:txBody>
      </p:sp>
      <p:sp>
        <p:nvSpPr>
          <p:cNvPr id="5" name="Rounded Rectangle 4"/>
          <p:cNvSpPr/>
          <p:nvPr/>
        </p:nvSpPr>
        <p:spPr>
          <a:xfrm>
            <a:off x="731520" y="1554480"/>
            <a:ext cx="5212080"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Performance Measures (P)</a:t>
            </a:r>
          </a:p>
          <a:p>
            <a:pPr>
              <a:spcAft>
                <a:spcPts val="600"/>
              </a:spcAft>
            </a:pPr>
            <a:r>
              <a:rPr sz="1050" b="1">
                <a:solidFill>
                  <a:srgbClr val="A5F3FC"/>
                </a:solidFill>
                <a:latin typeface="Arial"/>
              </a:rPr>
              <a:t>• Classification Accuracy: </a:t>
            </a:r>
            <a:r>
              <a:rPr sz="1050">
                <a:solidFill>
                  <a:srgbClr val="F8FAFC"/>
                </a:solidFill>
                <a:latin typeface="Calibri"/>
              </a:rPr>
              <a:t>&gt;= 95.0% for ₹100, ₹200, ₹500, and ₹2000 notes.</a:t>
            </a:r>
          </a:p>
          <a:p>
            <a:pPr>
              <a:spcAft>
                <a:spcPts val="600"/>
              </a:spcAft>
            </a:pPr>
            <a:r>
              <a:rPr sz="1050" b="1">
                <a:solidFill>
                  <a:srgbClr val="A5F3FC"/>
                </a:solidFill>
                <a:latin typeface="Arial"/>
              </a:rPr>
              <a:t>• Counterfeit Detection: </a:t>
            </a:r>
            <a:r>
              <a:rPr sz="1050">
                <a:solidFill>
                  <a:srgbClr val="F8FAFC"/>
                </a:solidFill>
                <a:latin typeface="Calibri"/>
              </a:rPr>
              <a:t>&gt;= 90.0% sensitivity; False Positive rate on genuine notes &lt; 3.0%.</a:t>
            </a:r>
          </a:p>
          <a:p>
            <a:pPr>
              <a:spcAft>
                <a:spcPts val="600"/>
              </a:spcAft>
            </a:pPr>
            <a:r>
              <a:rPr sz="1050" b="1">
                <a:solidFill>
                  <a:srgbClr val="A5F3FC"/>
                </a:solidFill>
                <a:latin typeface="Arial"/>
              </a:rPr>
              <a:t>• Operational Latency: </a:t>
            </a:r>
            <a:r>
              <a:rPr sz="1050">
                <a:solidFill>
                  <a:srgbClr val="F8FAFC"/>
                </a:solidFill>
                <a:latin typeface="Calibri"/>
              </a:rPr>
              <a:t>&lt; 200 ms end-to-end frame processing time (~5-10 FPS on CPU).</a:t>
            </a:r>
          </a:p>
          <a:p>
            <a:pPr>
              <a:spcAft>
                <a:spcPts val="600"/>
              </a:spcAft>
            </a:pPr>
            <a:r>
              <a:rPr sz="1050" b="1">
                <a:solidFill>
                  <a:srgbClr val="A5F3FC"/>
                </a:solidFill>
                <a:latin typeface="Arial"/>
              </a:rPr>
              <a:t>• Explainability: </a:t>
            </a:r>
            <a:r>
              <a:rPr sz="1050">
                <a:solidFill>
                  <a:srgbClr val="F8FAFC"/>
                </a:solidFill>
                <a:latin typeface="Calibri"/>
              </a:rPr>
              <a:t>Full deterministic rule traces mapped to RBI anti-counterfeit directions.</a:t>
            </a:r>
          </a:p>
        </p:txBody>
      </p:sp>
      <p:sp>
        <p:nvSpPr>
          <p:cNvPr id="6" name="Rounded Rectangle 5"/>
          <p:cNvSpPr/>
          <p:nvPr/>
        </p:nvSpPr>
        <p:spPr>
          <a:xfrm>
            <a:off x="6217920" y="1554480"/>
            <a:ext cx="5212080"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Task Environment (E)</a:t>
            </a:r>
          </a:p>
          <a:p>
            <a:pPr>
              <a:spcAft>
                <a:spcPts val="600"/>
              </a:spcAft>
            </a:pPr>
            <a:r>
              <a:rPr sz="1050" b="1">
                <a:solidFill>
                  <a:srgbClr val="A5F3FC"/>
                </a:solidFill>
                <a:latin typeface="Arial"/>
              </a:rPr>
              <a:t>• Retail POS Counter: </a:t>
            </a:r>
            <a:r>
              <a:rPr sz="1050">
                <a:solidFill>
                  <a:srgbClr val="F8FAFC"/>
                </a:solidFill>
                <a:latin typeface="Calibri"/>
              </a:rPr>
              <a:t>Handheld note presentation with arbitrary tilt, angles, and skew.</a:t>
            </a:r>
          </a:p>
          <a:p>
            <a:pPr>
              <a:spcAft>
                <a:spcPts val="600"/>
              </a:spcAft>
            </a:pPr>
            <a:r>
              <a:rPr sz="1050" b="1">
                <a:solidFill>
                  <a:srgbClr val="A5F3FC"/>
                </a:solidFill>
                <a:latin typeface="Arial"/>
              </a:rPr>
              <a:t>• Uncontrolled Illumination: </a:t>
            </a:r>
            <a:r>
              <a:rPr sz="1050">
                <a:solidFill>
                  <a:srgbClr val="F8FAFC"/>
                </a:solidFill>
                <a:latin typeface="Calibri"/>
              </a:rPr>
              <a:t>Incandescent 2700K warm bulbs, cool commercial LEDs, daylight.</a:t>
            </a:r>
          </a:p>
          <a:p>
            <a:pPr>
              <a:spcAft>
                <a:spcPts val="600"/>
              </a:spcAft>
            </a:pPr>
            <a:r>
              <a:rPr sz="1050" b="1">
                <a:solidFill>
                  <a:srgbClr val="A5F3FC"/>
                </a:solidFill>
                <a:latin typeface="Arial"/>
              </a:rPr>
              <a:t>• Physical Note State: </a:t>
            </a:r>
            <a:r>
              <a:rPr sz="1050">
                <a:solidFill>
                  <a:srgbClr val="F8FAFC"/>
                </a:solidFill>
                <a:latin typeface="Calibri"/>
              </a:rPr>
              <a:t>Circulated wear spectrum: crisp uncirculated, creased, folded, soiled.</a:t>
            </a:r>
          </a:p>
          <a:p>
            <a:pPr>
              <a:spcAft>
                <a:spcPts val="600"/>
              </a:spcAft>
            </a:pPr>
            <a:r>
              <a:rPr sz="1050" b="1">
                <a:solidFill>
                  <a:srgbClr val="A5F3FC"/>
                </a:solidFill>
                <a:latin typeface="Arial"/>
              </a:rPr>
              <a:t>• Adversarial Threats: </a:t>
            </a:r>
            <a:r>
              <a:rPr sz="1050">
                <a:solidFill>
                  <a:srgbClr val="F8FAFC"/>
                </a:solidFill>
                <a:latin typeface="Calibri"/>
              </a:rPr>
              <a:t>Color laser copies, discontinuous thread prints, blank watermark paper.</a:t>
            </a:r>
          </a:p>
        </p:txBody>
      </p:sp>
      <p:sp>
        <p:nvSpPr>
          <p:cNvPr id="7" name="Rounded Rectangle 6"/>
          <p:cNvSpPr/>
          <p:nvPr/>
        </p:nvSpPr>
        <p:spPr>
          <a:xfrm>
            <a:off x="731520" y="3749039"/>
            <a:ext cx="5212080"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Actuators (A)</a:t>
            </a:r>
          </a:p>
          <a:p>
            <a:pPr>
              <a:spcAft>
                <a:spcPts val="600"/>
              </a:spcAft>
            </a:pPr>
            <a:r>
              <a:rPr sz="1050" b="1">
                <a:solidFill>
                  <a:srgbClr val="A5F3FC"/>
                </a:solidFill>
                <a:latin typeface="Arial"/>
              </a:rPr>
              <a:t>• Visual Rectification Overlays: </a:t>
            </a:r>
            <a:r>
              <a:rPr sz="1050">
                <a:solidFill>
                  <a:srgbClr val="F8FAFC"/>
                </a:solidFill>
                <a:latin typeface="Calibri"/>
              </a:rPr>
              <a:t>Live OpenCV bounding reticle and unwarped canonical display.</a:t>
            </a:r>
          </a:p>
          <a:p>
            <a:pPr>
              <a:spcAft>
                <a:spcPts val="600"/>
              </a:spcAft>
            </a:pPr>
            <a:r>
              <a:rPr sz="1050" b="1">
                <a:solidFill>
                  <a:srgbClr val="A5F3FC"/>
                </a:solidFill>
                <a:latin typeface="Arial"/>
              </a:rPr>
              <a:t>• Tri-Color Verdict Banner: </a:t>
            </a:r>
            <a:r>
              <a:rPr sz="1050">
                <a:solidFill>
                  <a:srgbClr val="F8FAFC"/>
                </a:solidFill>
                <a:latin typeface="Calibri"/>
              </a:rPr>
              <a:t>Instant categorization: GENUINE (Green), SUSPICIOUS (Yellow), FAKE (Red).</a:t>
            </a:r>
          </a:p>
          <a:p>
            <a:pPr>
              <a:spcAft>
                <a:spcPts val="600"/>
              </a:spcAft>
            </a:pPr>
            <a:r>
              <a:rPr sz="1050" b="1">
                <a:solidFill>
                  <a:srgbClr val="A5F3FC"/>
                </a:solidFill>
                <a:latin typeface="Arial"/>
              </a:rPr>
              <a:t>• Diagnostic Audit Checklist: </a:t>
            </a:r>
            <a:r>
              <a:rPr sz="1050">
                <a:solidFill>
                  <a:srgbClr val="F8FAFC"/>
                </a:solidFill>
                <a:latin typeface="Calibri"/>
              </a:rPr>
              <a:t>Itemized rule verification table comparing measured vs standard values.</a:t>
            </a:r>
          </a:p>
          <a:p>
            <a:pPr>
              <a:spcAft>
                <a:spcPts val="600"/>
              </a:spcAft>
            </a:pPr>
            <a:r>
              <a:rPr sz="1050" b="1">
                <a:solidFill>
                  <a:srgbClr val="A5F3FC"/>
                </a:solidFill>
                <a:latin typeface="Arial"/>
              </a:rPr>
              <a:t>• Automated Audio Alarm: </a:t>
            </a:r>
            <a:r>
              <a:rPr sz="1050">
                <a:solidFill>
                  <a:srgbClr val="F8FAFC"/>
                </a:solidFill>
                <a:latin typeface="Calibri"/>
              </a:rPr>
              <a:t>Audio chimes for genuine acceptance; high-pitch alert on counterfeit.</a:t>
            </a:r>
          </a:p>
        </p:txBody>
      </p:sp>
      <p:sp>
        <p:nvSpPr>
          <p:cNvPr id="8" name="Rounded Rectangle 7"/>
          <p:cNvSpPr/>
          <p:nvPr/>
        </p:nvSpPr>
        <p:spPr>
          <a:xfrm>
            <a:off x="6217920" y="3749039"/>
            <a:ext cx="5212080"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2563EB"/>
                </a:solidFill>
                <a:latin typeface="Arial"/>
              </a:defRPr>
            </a:pPr>
            <a:r>
              <a:t>Sensors (S)</a:t>
            </a:r>
          </a:p>
          <a:p>
            <a:pPr>
              <a:spcAft>
                <a:spcPts val="600"/>
              </a:spcAft>
            </a:pPr>
            <a:r>
              <a:rPr sz="1050" b="1">
                <a:solidFill>
                  <a:srgbClr val="A5F3FC"/>
                </a:solidFill>
                <a:latin typeface="Arial"/>
              </a:rPr>
              <a:t>• Optical RGB Camera: </a:t>
            </a:r>
            <a:r>
              <a:rPr sz="1050">
                <a:solidFill>
                  <a:srgbClr val="F8FAFC"/>
                </a:solidFill>
                <a:latin typeface="Calibri"/>
              </a:rPr>
              <a:t>Standard laptop/desktop optical webcam stream (via st.camera_input).</a:t>
            </a:r>
          </a:p>
          <a:p>
            <a:pPr>
              <a:spcAft>
                <a:spcPts val="600"/>
              </a:spcAft>
            </a:pPr>
            <a:r>
              <a:rPr sz="1050" b="1">
                <a:solidFill>
                  <a:srgbClr val="A5F3FC"/>
                </a:solidFill>
                <a:latin typeface="Arial"/>
              </a:rPr>
              <a:t>• High-Res Image Ingestion: </a:t>
            </a:r>
            <a:r>
              <a:rPr sz="1050">
                <a:solidFill>
                  <a:srgbClr val="F8FAFC"/>
                </a:solidFill>
                <a:latin typeface="Calibri"/>
              </a:rPr>
              <a:t>Digital optical image sensor input (via st.file_uploader).</a:t>
            </a:r>
          </a:p>
          <a:p>
            <a:pPr>
              <a:spcAft>
                <a:spcPts val="600"/>
              </a:spcAft>
            </a:pPr>
            <a:r>
              <a:rPr sz="1050" b="1">
                <a:solidFill>
                  <a:srgbClr val="A5F3FC"/>
                </a:solidFill>
                <a:latin typeface="Arial"/>
              </a:rPr>
              <a:t>• OpenCV Spatial Digitizer: </a:t>
            </a:r>
            <a:r>
              <a:rPr sz="1050">
                <a:solidFill>
                  <a:srgbClr val="F8FAFC"/>
                </a:solidFill>
                <a:latin typeface="Calibri"/>
              </a:rPr>
              <a:t>Spatial gradient edge detector, contour analyzer, and color moment sensor.</a:t>
            </a:r>
          </a:p>
          <a:p>
            <a:pPr>
              <a:spcAft>
                <a:spcPts val="600"/>
              </a:spcAft>
            </a:pPr>
            <a:r>
              <a:rPr sz="1050" b="1">
                <a:solidFill>
                  <a:srgbClr val="A5F3FC"/>
                </a:solidFill>
                <a:latin typeface="Arial"/>
              </a:rPr>
              <a:t>• Color Space Transform: </a:t>
            </a:r>
            <a:r>
              <a:rPr sz="1050">
                <a:solidFill>
                  <a:srgbClr val="F8FAFC"/>
                </a:solidFill>
                <a:latin typeface="Calibri"/>
              </a:rPr>
              <a:t>Multi-spectral sensors in decoupled HSV, RGB, and CIE-Lab domains.</a:t>
            </a:r>
          </a:p>
        </p:txBody>
      </p:sp>
      <p:sp>
        <p:nvSpPr>
          <p:cNvPr id="9" name="Rounded Rectangle 8"/>
          <p:cNvSpPr/>
          <p:nvPr/>
        </p:nvSpPr>
        <p:spPr>
          <a:xfrm>
            <a:off x="731520" y="5943600"/>
            <a:ext cx="10716768" cy="502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Arial"/>
              </a:defRPr>
            </a:pPr>
            <a:r>
              <a:t>ENVIRONMENT PROPERTIES: Fully Observable (post-warp) • Deterministic • Static (per frame) • Discrete • Single-Agent Rational Inspector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1: SOHAM | SPEAKER 1 (0:00 - 3:20)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04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03 | End-to-End System Architecture &amp; Data Flow</a:t>
            </a:r>
          </a:p>
        </p:txBody>
      </p:sp>
      <p:sp>
        <p:nvSpPr>
          <p:cNvPr id="5" name="Rounded Rectangle 4"/>
          <p:cNvSpPr/>
          <p:nvPr/>
        </p:nvSpPr>
        <p:spPr>
          <a:xfrm>
            <a:off x="731520" y="1554480"/>
            <a:ext cx="2542032"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STAGE 1: CV PIPELINE</a:t>
            </a:r>
          </a:p>
          <a:p>
            <a:pPr>
              <a:spcAft>
                <a:spcPts val="600"/>
              </a:spcAft>
            </a:pPr>
            <a:r>
              <a:rPr sz="950" b="1">
                <a:solidFill>
                  <a:srgbClr val="A5F3FC"/>
                </a:solidFill>
                <a:latin typeface="Arial"/>
              </a:rPr>
              <a:t>• Raw Frame Ingestion: </a:t>
            </a:r>
            <a:r>
              <a:rPr sz="950">
                <a:solidFill>
                  <a:srgbClr val="F8FAFC"/>
                </a:solidFill>
                <a:latin typeface="Calibri"/>
              </a:rPr>
              <a:t>Streamlit/OpenCV video stream captures note on desk surface.</a:t>
            </a:r>
          </a:p>
          <a:p>
            <a:pPr>
              <a:spcAft>
                <a:spcPts val="600"/>
              </a:spcAft>
            </a:pPr>
            <a:r>
              <a:rPr sz="950" b="1">
                <a:solidFill>
                  <a:srgbClr val="A5F3FC"/>
                </a:solidFill>
                <a:latin typeface="Arial"/>
              </a:rPr>
              <a:t>• Bilateral Filtering: </a:t>
            </a:r>
            <a:r>
              <a:rPr sz="950">
                <a:solidFill>
                  <a:srgbClr val="F8FAFC"/>
                </a:solidFill>
                <a:latin typeface="Calibri"/>
              </a:rPr>
              <a:t>d=7, sigma=50 eliminates paper grain while preserving sharp boundaries.</a:t>
            </a:r>
          </a:p>
          <a:p>
            <a:pPr>
              <a:spcAft>
                <a:spcPts val="600"/>
              </a:spcAft>
            </a:pPr>
            <a:r>
              <a:rPr sz="950" b="1">
                <a:solidFill>
                  <a:srgbClr val="A5F3FC"/>
                </a:solidFill>
                <a:latin typeface="Arial"/>
              </a:rPr>
              <a:t>• Adaptive Canny: </a:t>
            </a:r>
            <a:r>
              <a:rPr sz="950">
                <a:solidFill>
                  <a:srgbClr val="F8FAFC"/>
                </a:solidFill>
                <a:latin typeface="Calibri"/>
              </a:rPr>
              <a:t>Otsu dynamic median thresholds isolate note perimeter contours.</a:t>
            </a:r>
          </a:p>
          <a:p>
            <a:pPr>
              <a:spcAft>
                <a:spcPts val="600"/>
              </a:spcAft>
            </a:pPr>
            <a:r>
              <a:rPr sz="950" b="1">
                <a:solidFill>
                  <a:srgbClr val="A5F3FC"/>
                </a:solidFill>
                <a:latin typeface="Arial"/>
              </a:rPr>
              <a:t>• Perspective Warp: </a:t>
            </a:r>
            <a:r>
              <a:rPr sz="950">
                <a:solidFill>
                  <a:srgbClr val="F8FAFC"/>
                </a:solidFill>
                <a:latin typeface="Calibri"/>
              </a:rPr>
              <a:t>4-point homography unwarps skewed note to canonical 600x270 px matrix.</a:t>
            </a:r>
          </a:p>
          <a:p>
            <a:pPr>
              <a:spcAft>
                <a:spcPts val="600"/>
              </a:spcAft>
            </a:pPr>
            <a:r>
              <a:rPr sz="950" b="1">
                <a:solidFill>
                  <a:srgbClr val="A5F3FC"/>
                </a:solidFill>
                <a:latin typeface="Arial"/>
              </a:rPr>
              <a:t>• Gray-World Normalization: </a:t>
            </a:r>
            <a:r>
              <a:rPr sz="950">
                <a:solidFill>
                  <a:srgbClr val="F8FAFC"/>
                </a:solidFill>
                <a:latin typeface="Calibri"/>
              </a:rPr>
              <a:t>Auto-white balance eliminates warm/cool ambient lighting casts.</a:t>
            </a:r>
          </a:p>
        </p:txBody>
      </p:sp>
      <p:sp>
        <p:nvSpPr>
          <p:cNvPr id="6" name="Rounded Rectangle 5"/>
          <p:cNvSpPr/>
          <p:nvPr/>
        </p:nvSpPr>
        <p:spPr>
          <a:xfrm>
            <a:off x="3456432" y="1554480"/>
            <a:ext cx="2542032"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STAGE 2: DUAL ML ENGINE</a:t>
            </a:r>
          </a:p>
          <a:p>
            <a:pPr>
              <a:spcAft>
                <a:spcPts val="600"/>
              </a:spcAft>
            </a:pPr>
            <a:r>
              <a:rPr sz="950" b="1">
                <a:solidFill>
                  <a:srgbClr val="A5F3FC"/>
                </a:solidFill>
                <a:latin typeface="Arial"/>
              </a:rPr>
              <a:t>• ROI Segmentation: </a:t>
            </a:r>
            <a:r>
              <a:rPr sz="950">
                <a:solidFill>
                  <a:srgbClr val="F8FAFC"/>
                </a:solidFill>
                <a:latin typeface="Calibri"/>
              </a:rPr>
              <a:t>Programmatically crops Security Thread, Watermark, and Numeral ROIs.</a:t>
            </a:r>
          </a:p>
          <a:p>
            <a:pPr>
              <a:spcAft>
                <a:spcPts val="600"/>
              </a:spcAft>
            </a:pPr>
            <a:r>
              <a:rPr sz="950" b="1">
                <a:solidFill>
                  <a:srgbClr val="A5F3FC"/>
                </a:solidFill>
                <a:latin typeface="Arial"/>
              </a:rPr>
              <a:t>• Statistical Features: </a:t>
            </a:r>
            <a:r>
              <a:rPr sz="950">
                <a:solidFill>
                  <a:srgbClr val="F8FAFC"/>
                </a:solidFill>
                <a:latin typeface="Calibri"/>
              </a:rPr>
              <a:t>Extracts 7D vector: [H_mean, H_std, S_mean, S_std, V_mean, V_std, AR].</a:t>
            </a:r>
          </a:p>
          <a:p>
            <a:pPr>
              <a:spcAft>
                <a:spcPts val="600"/>
              </a:spcAft>
            </a:pPr>
            <a:r>
              <a:rPr sz="950" b="1">
                <a:solidFill>
                  <a:srgbClr val="A5F3FC"/>
                </a:solidFill>
                <a:latin typeface="Arial"/>
              </a:rPr>
              <a:t>• CART Decision Tree (CO4): </a:t>
            </a:r>
            <a:r>
              <a:rPr sz="950">
                <a:solidFill>
                  <a:srgbClr val="F8FAFC"/>
                </a:solidFill>
                <a:latin typeface="Calibri"/>
              </a:rPr>
              <a:t>Supervised classifier determines note denomination with max_depth=5.</a:t>
            </a:r>
          </a:p>
          <a:p>
            <a:pPr>
              <a:spcAft>
                <a:spcPts val="600"/>
              </a:spcAft>
            </a:pPr>
            <a:r>
              <a:rPr sz="950" b="1">
                <a:solidFill>
                  <a:srgbClr val="A5F3FC"/>
                </a:solidFill>
                <a:latin typeface="Arial"/>
              </a:rPr>
              <a:t>• K-Means Clustering (CO4): </a:t>
            </a:r>
            <a:r>
              <a:rPr sz="950">
                <a:solidFill>
                  <a:srgbClr val="F8FAFC"/>
                </a:solidFill>
                <a:latin typeface="Calibri"/>
              </a:rPr>
              <a:t>Unsupervised k=3 clustering in 6D color space segments metallic thread.</a:t>
            </a:r>
          </a:p>
          <a:p>
            <a:pPr>
              <a:spcAft>
                <a:spcPts val="600"/>
              </a:spcAft>
            </a:pPr>
            <a:r>
              <a:rPr sz="950" b="1">
                <a:solidFill>
                  <a:srgbClr val="A5F3FC"/>
                </a:solidFill>
                <a:latin typeface="Arial"/>
              </a:rPr>
              <a:t>• Continuity Metrics: </a:t>
            </a:r>
            <a:r>
              <a:rPr sz="950">
                <a:solidFill>
                  <a:srgbClr val="F8FAFC"/>
                </a:solidFill>
                <a:latin typeface="Calibri"/>
              </a:rPr>
              <a:t>Calculates vertical continuity index &amp; detects windowed periodicity.</a:t>
            </a:r>
          </a:p>
        </p:txBody>
      </p:sp>
      <p:sp>
        <p:nvSpPr>
          <p:cNvPr id="7" name="Rounded Rectangle 6"/>
          <p:cNvSpPr/>
          <p:nvPr/>
        </p:nvSpPr>
        <p:spPr>
          <a:xfrm>
            <a:off x="6181344" y="1554480"/>
            <a:ext cx="2542032"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STAGE 3: EXPERT RULES</a:t>
            </a:r>
          </a:p>
          <a:p>
            <a:pPr>
              <a:spcAft>
                <a:spcPts val="600"/>
              </a:spcAft>
            </a:pPr>
            <a:r>
              <a:rPr sz="950" b="1">
                <a:solidFill>
                  <a:srgbClr val="A5F3FC"/>
                </a:solidFill>
                <a:latin typeface="Arial"/>
              </a:rPr>
              <a:t>• Working Memory: </a:t>
            </a:r>
            <a:r>
              <a:rPr sz="950">
                <a:solidFill>
                  <a:srgbClr val="F8FAFC"/>
                </a:solidFill>
                <a:latin typeface="Calibri"/>
              </a:rPr>
              <a:t>Asserts facts: observed aspect ratio, thread continuity, watermark variance.</a:t>
            </a:r>
          </a:p>
          <a:p>
            <a:pPr>
              <a:spcAft>
                <a:spcPts val="600"/>
              </a:spcAft>
            </a:pPr>
            <a:r>
              <a:rPr sz="950" b="1">
                <a:solidFill>
                  <a:srgbClr val="A5F3FC"/>
                </a:solidFill>
                <a:latin typeface="Arial"/>
              </a:rPr>
              <a:t>• Rule 1: Dimensions: </a:t>
            </a:r>
            <a:r>
              <a:rPr sz="950">
                <a:solidFill>
                  <a:srgbClr val="F8FAFC"/>
                </a:solidFill>
                <a:latin typeface="Calibri"/>
              </a:rPr>
              <a:t>Verifies physical aspect ratio against RBI standard (tolerance &lt;= 4%).</a:t>
            </a:r>
          </a:p>
          <a:p>
            <a:pPr>
              <a:spcAft>
                <a:spcPts val="600"/>
              </a:spcAft>
            </a:pPr>
            <a:r>
              <a:rPr sz="950" b="1">
                <a:solidFill>
                  <a:srgbClr val="A5F3FC"/>
                </a:solidFill>
                <a:latin typeface="Arial"/>
              </a:rPr>
              <a:t>• Rule 2: Thread Ribbon: </a:t>
            </a:r>
            <a:r>
              <a:rPr sz="950">
                <a:solidFill>
                  <a:srgbClr val="F8FAFC"/>
                </a:solidFill>
                <a:latin typeface="Calibri"/>
              </a:rPr>
              <a:t>Ensures vertical continuity &gt;= 80% or 3-8 windowed segments.</a:t>
            </a:r>
          </a:p>
          <a:p>
            <a:pPr>
              <a:spcAft>
                <a:spcPts val="600"/>
              </a:spcAft>
            </a:pPr>
            <a:r>
              <a:rPr sz="950" b="1">
                <a:solidFill>
                  <a:srgbClr val="A5F3FC"/>
                </a:solidFill>
                <a:latin typeface="Arial"/>
              </a:rPr>
              <a:t>• Rule 3: Color Envelope: </a:t>
            </a:r>
            <a:r>
              <a:rPr sz="950">
                <a:solidFill>
                  <a:srgbClr val="F8FAFC"/>
                </a:solidFill>
                <a:latin typeface="Calibri"/>
              </a:rPr>
              <a:t>Validates Hue and Saturation bounds against official currency specs.</a:t>
            </a:r>
          </a:p>
          <a:p>
            <a:pPr>
              <a:spcAft>
                <a:spcPts val="600"/>
              </a:spcAft>
            </a:pPr>
            <a:r>
              <a:rPr sz="950" b="1">
                <a:solidFill>
                  <a:srgbClr val="A5F3FC"/>
                </a:solidFill>
                <a:latin typeface="Arial"/>
              </a:rPr>
              <a:t>• Rule 4: Watermark: </a:t>
            </a:r>
            <a:r>
              <a:rPr sz="950">
                <a:solidFill>
                  <a:srgbClr val="F8FAFC"/>
                </a:solidFill>
                <a:latin typeface="Calibri"/>
              </a:rPr>
              <a:t>Validates latent portrait variance (25-1400) &amp; dynamic range (&gt;=26.5).</a:t>
            </a:r>
          </a:p>
        </p:txBody>
      </p:sp>
      <p:sp>
        <p:nvSpPr>
          <p:cNvPr id="8" name="Rounded Rectangle 7"/>
          <p:cNvSpPr/>
          <p:nvPr/>
        </p:nvSpPr>
        <p:spPr>
          <a:xfrm>
            <a:off x="8906256" y="1554480"/>
            <a:ext cx="2542032"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2563EB"/>
                </a:solidFill>
                <a:latin typeface="Arial"/>
              </a:defRPr>
            </a:pPr>
            <a:r>
              <a:t>STAGE 4: DIAGNOSTIC UI</a:t>
            </a:r>
          </a:p>
          <a:p>
            <a:pPr>
              <a:spcAft>
                <a:spcPts val="600"/>
              </a:spcAft>
            </a:pPr>
            <a:r>
              <a:rPr sz="950" b="1">
                <a:solidFill>
                  <a:srgbClr val="A5F3FC"/>
                </a:solidFill>
                <a:latin typeface="Arial"/>
              </a:rPr>
              <a:t>• Tri-Color Verdict: </a:t>
            </a:r>
            <a:r>
              <a:rPr sz="950">
                <a:solidFill>
                  <a:srgbClr val="F8FAFC"/>
                </a:solidFill>
                <a:latin typeface="Calibri"/>
              </a:rPr>
              <a:t>GENUINE (Green), SUSPICIOUS (Yellow), or COUNTERFEIT (Red).</a:t>
            </a:r>
          </a:p>
          <a:p>
            <a:pPr>
              <a:spcAft>
                <a:spcPts val="600"/>
              </a:spcAft>
            </a:pPr>
            <a:r>
              <a:rPr sz="950" b="1">
                <a:solidFill>
                  <a:srgbClr val="A5F3FC"/>
                </a:solidFill>
                <a:latin typeface="Arial"/>
              </a:rPr>
              <a:t>• Confidence Scoring: </a:t>
            </a:r>
            <a:r>
              <a:rPr sz="950">
                <a:solidFill>
                  <a:srgbClr val="F8FAFC"/>
                </a:solidFill>
                <a:latin typeface="Calibri"/>
              </a:rPr>
              <a:t>Accumulates rule weights and penalty deductions to generate 0-100% score.</a:t>
            </a:r>
          </a:p>
          <a:p>
            <a:pPr>
              <a:spcAft>
                <a:spcPts val="600"/>
              </a:spcAft>
            </a:pPr>
            <a:r>
              <a:rPr sz="950" b="1">
                <a:solidFill>
                  <a:srgbClr val="A5F3FC"/>
                </a:solidFill>
                <a:latin typeface="Arial"/>
              </a:rPr>
              <a:t>• Audit Checklist: </a:t>
            </a:r>
            <a:r>
              <a:rPr sz="950">
                <a:solidFill>
                  <a:srgbClr val="F8FAFC"/>
                </a:solidFill>
                <a:latin typeface="Calibri"/>
              </a:rPr>
              <a:t>Interactive table displaying measured vs threshold values for every rule.</a:t>
            </a:r>
          </a:p>
          <a:p>
            <a:pPr>
              <a:spcAft>
                <a:spcPts val="600"/>
              </a:spcAft>
            </a:pPr>
            <a:r>
              <a:rPr sz="950" b="1">
                <a:solidFill>
                  <a:srgbClr val="A5F3FC"/>
                </a:solidFill>
                <a:latin typeface="Arial"/>
              </a:rPr>
              <a:t>• Audio Alarm Engine: </a:t>
            </a:r>
            <a:r>
              <a:rPr sz="950">
                <a:solidFill>
                  <a:srgbClr val="F8FAFC"/>
                </a:solidFill>
                <a:latin typeface="Calibri"/>
              </a:rPr>
              <a:t>Triggers browser audio warnings on suspicious or counterfeit detection.</a:t>
            </a:r>
          </a:p>
          <a:p>
            <a:pPr>
              <a:spcAft>
                <a:spcPts val="600"/>
              </a:spcAft>
            </a:pPr>
            <a:r>
              <a:rPr sz="950" b="1">
                <a:solidFill>
                  <a:srgbClr val="A5F3FC"/>
                </a:solidFill>
                <a:latin typeface="Arial"/>
              </a:rPr>
              <a:t>• Edge Deployment Ready: </a:t>
            </a:r>
            <a:r>
              <a:rPr sz="950">
                <a:solidFill>
                  <a:srgbClr val="F8FAFC"/>
                </a:solidFill>
                <a:latin typeface="Calibri"/>
              </a:rPr>
              <a:t>Modular architecture ready for Raspberry Pi and mobile ONNX runtime.</a:t>
            </a:r>
          </a:p>
        </p:txBody>
      </p:sp>
      <p:sp>
        <p:nvSpPr>
          <p:cNvPr id="9" name="Rounded Rectangle 8"/>
          <p:cNvSpPr/>
          <p:nvPr/>
        </p:nvSpPr>
        <p:spPr>
          <a:xfrm>
            <a:off x="731520" y="5806440"/>
            <a:ext cx="10716768" cy="502920"/>
          </a:xfrm>
          <a:prstGeom prst="roundRect">
            <a:avLst/>
          </a:prstGeom>
          <a:solidFill>
            <a:srgbClr val="1822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Arial"/>
              </a:defRPr>
            </a:pPr>
            <a:r>
              <a:t>SECTION HANDOVER: Soham concludes Section 1  --&gt;  Ethan takes the floor for Section 2: CV Pipeline &amp; Machine Learning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2: ETHAN | SPEAKER 2 (3:20 - 6:40)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05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04 | Computer Vision Pipeline &amp; Perspective Rectification</a:t>
            </a:r>
          </a:p>
        </p:txBody>
      </p:sp>
      <p:sp>
        <p:nvSpPr>
          <p:cNvPr id="5" name="Rounded Rectangle 4"/>
          <p:cNvSpPr/>
          <p:nvPr/>
        </p:nvSpPr>
        <p:spPr>
          <a:xfrm>
            <a:off x="731520" y="1554480"/>
            <a:ext cx="5212080"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Step 1: Bilateral Filtering &amp; Edge Extraction</a:t>
            </a:r>
          </a:p>
          <a:p>
            <a:pPr>
              <a:spcAft>
                <a:spcPts val="600"/>
              </a:spcAft>
            </a:pPr>
            <a:r>
              <a:rPr sz="1050" b="1">
                <a:solidFill>
                  <a:srgbClr val="A5F3FC"/>
                </a:solidFill>
                <a:latin typeface="Arial"/>
              </a:rPr>
              <a:t>• Edge-Preserving Bilateral Filter: </a:t>
            </a:r>
            <a:r>
              <a:rPr sz="1050">
                <a:solidFill>
                  <a:srgbClr val="F8FAFC"/>
                </a:solidFill>
                <a:latin typeface="Calibri"/>
              </a:rPr>
              <a:t>Applies Gaussian spatial kernel combined with photometric range kernel (d=7, sigma=50). Smooths textured banknote paper without blurring boundary lines.</a:t>
            </a:r>
          </a:p>
          <a:p>
            <a:pPr>
              <a:spcAft>
                <a:spcPts val="600"/>
              </a:spcAft>
            </a:pPr>
            <a:r>
              <a:rPr sz="1050" b="1">
                <a:solidFill>
                  <a:srgbClr val="A5F3FC"/>
                </a:solidFill>
                <a:latin typeface="Arial"/>
              </a:rPr>
              <a:t>• Dynamic Otsu-Canny Thresholds: </a:t>
            </a:r>
            <a:r>
              <a:rPr sz="1050">
                <a:solidFill>
                  <a:srgbClr val="F8FAFC"/>
                </a:solidFill>
                <a:latin typeface="Calibri"/>
              </a:rPr>
              <a:t>Computes median intensity v = median(I); sets adaptive bounds: lower = max(0, 0.66*v), upper = min(255, 1.33*v) to resist lighting changes.</a:t>
            </a:r>
          </a:p>
        </p:txBody>
      </p:sp>
      <p:sp>
        <p:nvSpPr>
          <p:cNvPr id="6" name="Rounded Rectangle 5"/>
          <p:cNvSpPr/>
          <p:nvPr/>
        </p:nvSpPr>
        <p:spPr>
          <a:xfrm>
            <a:off x="6217920" y="1554480"/>
            <a:ext cx="5212080"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Step 2: Convex Hull &amp; Polygonal Approximation</a:t>
            </a:r>
          </a:p>
          <a:p>
            <a:pPr>
              <a:spcAft>
                <a:spcPts val="600"/>
              </a:spcAft>
            </a:pPr>
            <a:r>
              <a:rPr sz="1050" b="1">
                <a:solidFill>
                  <a:srgbClr val="A5F3FC"/>
                </a:solidFill>
                <a:latin typeface="Arial"/>
              </a:rPr>
              <a:t>• Morphological Enclosure: </a:t>
            </a:r>
            <a:r>
              <a:rPr sz="1050">
                <a:solidFill>
                  <a:srgbClr val="F8FAFC"/>
                </a:solidFill>
                <a:latin typeface="Calibri"/>
              </a:rPr>
              <a:t>Executes cv2.morphologyEx with a 5x5 rectangular structuring element to seal micro-gaps along the banknote boundary.</a:t>
            </a:r>
          </a:p>
          <a:p>
            <a:pPr>
              <a:spcAft>
                <a:spcPts val="600"/>
              </a:spcAft>
            </a:pPr>
            <a:r>
              <a:rPr sz="1050" b="1">
                <a:solidFill>
                  <a:srgbClr val="A5F3FC"/>
                </a:solidFill>
                <a:latin typeface="Arial"/>
              </a:rPr>
              <a:t>• Convex Hull &amp; Douglas-Peucker: </a:t>
            </a:r>
            <a:r>
              <a:rPr sz="1050">
                <a:solidFill>
                  <a:srgbClr val="F8FAFC"/>
                </a:solidFill>
                <a:latin typeface="Calibri"/>
              </a:rPr>
              <a:t>Computes convex hull to bridge hand-held finger notches; applies cv2.approxPolyDP with epsilon = 0.02 * perimeter to extract exactly 4 corner vertices.</a:t>
            </a:r>
          </a:p>
        </p:txBody>
      </p:sp>
      <p:sp>
        <p:nvSpPr>
          <p:cNvPr id="7" name="Rounded Rectangle 6"/>
          <p:cNvSpPr/>
          <p:nvPr/>
        </p:nvSpPr>
        <p:spPr>
          <a:xfrm>
            <a:off x="731520" y="3749039"/>
            <a:ext cx="5212080"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Step 3: Four-Point Perspective Homography</a:t>
            </a:r>
          </a:p>
          <a:p>
            <a:pPr>
              <a:spcAft>
                <a:spcPts val="600"/>
              </a:spcAft>
            </a:pPr>
            <a:r>
              <a:rPr sz="1050" b="1">
                <a:solidFill>
                  <a:srgbClr val="A5F3FC"/>
                </a:solidFill>
                <a:latin typeface="Arial"/>
              </a:rPr>
              <a:t>• Planar Projective Transformation: </a:t>
            </a:r>
            <a:r>
              <a:rPr sz="1050">
                <a:solidFill>
                  <a:srgbClr val="F8FAFC"/>
                </a:solidFill>
                <a:latin typeface="Calibri"/>
              </a:rPr>
              <a:t>Maps quadrilateral camera coordinates [x, y]^T to a flat rectangular target matrix [x', y']^T via a 3x3 homography matrix H: s [x', y', 1]^T = H [x, y, 1]^T.</a:t>
            </a:r>
          </a:p>
          <a:p>
            <a:pPr>
              <a:spcAft>
                <a:spcPts val="600"/>
              </a:spcAft>
            </a:pPr>
            <a:r>
              <a:rPr sz="1050" b="1">
                <a:solidFill>
                  <a:srgbClr val="A5F3FC"/>
                </a:solidFill>
                <a:latin typeface="Arial"/>
              </a:rPr>
              <a:t>• Canonical 600x270 Pixel Matrix: </a:t>
            </a:r>
            <a:r>
              <a:rPr sz="1050">
                <a:solidFill>
                  <a:srgbClr val="F8FAFC"/>
                </a:solidFill>
                <a:latin typeface="Calibri"/>
              </a:rPr>
              <a:t>Unwarps arbitrary tilted presentation angles into a standardized canonical coordinate system, guaranteeing invariant ROI slicing.</a:t>
            </a:r>
          </a:p>
        </p:txBody>
      </p:sp>
      <p:sp>
        <p:nvSpPr>
          <p:cNvPr id="8" name="Rounded Rectangle 7"/>
          <p:cNvSpPr/>
          <p:nvPr/>
        </p:nvSpPr>
        <p:spPr>
          <a:xfrm>
            <a:off x="6217920" y="3749039"/>
            <a:ext cx="5212080"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2563EB"/>
                </a:solidFill>
                <a:latin typeface="Arial"/>
              </a:defRPr>
            </a:pPr>
            <a:r>
              <a:t>Step 4: Gray-World White Balance &amp; Auto-Orientation</a:t>
            </a:r>
          </a:p>
          <a:p>
            <a:pPr>
              <a:spcAft>
                <a:spcPts val="600"/>
              </a:spcAft>
            </a:pPr>
            <a:r>
              <a:rPr sz="1050" b="1">
                <a:solidFill>
                  <a:srgbClr val="A5F3FC"/>
                </a:solidFill>
                <a:latin typeface="Arial"/>
              </a:rPr>
              <a:t>• Gray-World Color Constancy: </a:t>
            </a:r>
            <a:r>
              <a:rPr sz="1050">
                <a:solidFill>
                  <a:srgbClr val="F8FAFC"/>
                </a:solidFill>
                <a:latin typeface="Calibri"/>
              </a:rPr>
              <a:t>Computes channel means [R_avg, G_avg, B_avg]; scales channels by Gray_mean / Channel_avg. Eliminates 2700K warm incandescent yellow casts completely.</a:t>
            </a:r>
          </a:p>
          <a:p>
            <a:pPr>
              <a:spcAft>
                <a:spcPts val="600"/>
              </a:spcAft>
            </a:pPr>
            <a:r>
              <a:rPr sz="1050" b="1">
                <a:solidFill>
                  <a:srgbClr val="A5F3FC"/>
                </a:solidFill>
                <a:latin typeface="Arial"/>
              </a:rPr>
              <a:t>• Auto-Orientation Normalization: </a:t>
            </a:r>
            <a:r>
              <a:rPr sz="1050">
                <a:solidFill>
                  <a:srgbClr val="F8FAFC"/>
                </a:solidFill>
                <a:latin typeface="Calibri"/>
              </a:rPr>
              <a:t>Compares ink density between left (watermark) and right (portrait) quadrants. Automatically executes a 180-degree rotation if the note is presented upside down.</a:t>
            </a:r>
          </a:p>
        </p:txBody>
      </p:sp>
      <p:sp>
        <p:nvSpPr>
          <p:cNvPr id="9" name="Rounded Rectangle 8"/>
          <p:cNvSpPr/>
          <p:nvPr/>
        </p:nvSpPr>
        <p:spPr>
          <a:xfrm>
            <a:off x="731520" y="5897880"/>
            <a:ext cx="10716768" cy="502920"/>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F3FC"/>
                </a:solidFill>
                <a:latin typeface="Arial"/>
              </a:defRPr>
            </a:pPr>
            <a:r>
              <a:t>HOMOGRAPHY FORMULATION: 8 Degrees of Freedom solved via Singular Value Decomposition (SVD) -&gt; Invariant Planar Canonical Geometry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2: ETHAN | SPEAKER 2 (3:20 - 6:40)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06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05 | Security Thread Segmentation via K-Means (CO4)</a:t>
            </a:r>
          </a:p>
        </p:txBody>
      </p:sp>
      <p:sp>
        <p:nvSpPr>
          <p:cNvPr id="5" name="Rounded Rectangle 4"/>
          <p:cNvSpPr/>
          <p:nvPr/>
        </p:nvSpPr>
        <p:spPr>
          <a:xfrm>
            <a:off x="731520"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6D Color Feature Space</a:t>
            </a:r>
          </a:p>
          <a:p>
            <a:pPr>
              <a:spcAft>
                <a:spcPts val="600"/>
              </a:spcAft>
            </a:pPr>
            <a:r>
              <a:rPr sz="1050" b="1">
                <a:solidFill>
                  <a:srgbClr val="A5F3FC"/>
                </a:solidFill>
                <a:latin typeface="Arial"/>
              </a:rPr>
              <a:t>• Why Unsupervised?: </a:t>
            </a:r>
            <a:r>
              <a:rPr sz="1050">
                <a:solidFill>
                  <a:srgbClr val="F8FAFC"/>
                </a:solidFill>
                <a:latin typeface="Calibri"/>
              </a:rPr>
              <a:t>Security threads exhibit variable specular reflections and microscopic luster depending on viewing angle. Supervised bounding boxes fail on creased ribbons.</a:t>
            </a:r>
          </a:p>
          <a:p>
            <a:pPr>
              <a:spcAft>
                <a:spcPts val="600"/>
              </a:spcAft>
            </a:pPr>
            <a:r>
              <a:rPr sz="1050" b="1">
                <a:solidFill>
                  <a:srgbClr val="A5F3FC"/>
                </a:solidFill>
                <a:latin typeface="Arial"/>
              </a:rPr>
              <a:t>• 6-Dimensional Vector: </a:t>
            </a:r>
            <a:r>
              <a:rPr sz="1050">
                <a:solidFill>
                  <a:srgbClr val="F8FAFC"/>
                </a:solidFill>
                <a:latin typeface="Calibri"/>
              </a:rPr>
              <a:t>Every pixel inside the sliced thread ROI is represented as: x_p = [R, G, B, H, S, V]^T.</a:t>
            </a:r>
          </a:p>
          <a:p>
            <a:pPr>
              <a:spcAft>
                <a:spcPts val="600"/>
              </a:spcAft>
            </a:pPr>
            <a:r>
              <a:rPr sz="1050" b="1">
                <a:solidFill>
                  <a:srgbClr val="A5F3FC"/>
                </a:solidFill>
                <a:latin typeface="Arial"/>
              </a:rPr>
              <a:t>• Decoupled Representation: </a:t>
            </a:r>
            <a:r>
              <a:rPr sz="1050">
                <a:solidFill>
                  <a:srgbClr val="F8FAFC"/>
                </a:solidFill>
                <a:latin typeface="Calibri"/>
              </a:rPr>
              <a:t>Combines raw photometric RGB intensities with decoupled perceptual HSV chromaticity, separating metallic highlights from printed intaglio ink.</a:t>
            </a:r>
          </a:p>
        </p:txBody>
      </p:sp>
      <p:sp>
        <p:nvSpPr>
          <p:cNvPr id="6" name="Rounded Rectangle 5"/>
          <p:cNvSpPr/>
          <p:nvPr/>
        </p:nvSpPr>
        <p:spPr>
          <a:xfrm>
            <a:off x="4425696"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K-Means Partitioning (k=3)</a:t>
            </a:r>
          </a:p>
          <a:p>
            <a:pPr>
              <a:spcAft>
                <a:spcPts val="600"/>
              </a:spcAft>
            </a:pPr>
            <a:r>
              <a:rPr sz="1050" b="1">
                <a:solidFill>
                  <a:srgbClr val="A5F3FC"/>
                </a:solidFill>
                <a:latin typeface="Arial"/>
              </a:rPr>
              <a:t>• Cluster Allocation: </a:t>
            </a:r>
            <a:r>
              <a:rPr sz="1050">
                <a:solidFill>
                  <a:srgbClr val="F8FAFC"/>
                </a:solidFill>
                <a:latin typeface="Calibri"/>
              </a:rPr>
              <a:t>K-Means partitions pixels into 3 distinct physical semantic clusters:
• Cluster 0: Metallic Security Ribbon
• Cluster 1: Base Paper Substrate
• Cluster 2: Dark Background Guilloche</a:t>
            </a:r>
          </a:p>
          <a:p>
            <a:pPr>
              <a:spcAft>
                <a:spcPts val="600"/>
              </a:spcAft>
            </a:pPr>
            <a:r>
              <a:rPr sz="1050" b="1">
                <a:solidFill>
                  <a:srgbClr val="A5F3FC"/>
                </a:solidFill>
                <a:latin typeface="Arial"/>
              </a:rPr>
              <a:t>• Corridor Localization: </a:t>
            </a:r>
            <a:r>
              <a:rPr sz="1050">
                <a:solidFill>
                  <a:srgbClr val="F8FAFC"/>
                </a:solidFill>
                <a:latin typeface="Calibri"/>
              </a:rPr>
              <a:t>The metallic cluster is autonomously identified by evaluating spatial density along the central 60% vertical corridor.</a:t>
            </a:r>
          </a:p>
          <a:p>
            <a:pPr>
              <a:spcAft>
                <a:spcPts val="600"/>
              </a:spcAft>
            </a:pPr>
            <a:r>
              <a:rPr sz="1050" b="1">
                <a:solidFill>
                  <a:srgbClr val="A5F3FC"/>
                </a:solidFill>
                <a:latin typeface="Arial"/>
              </a:rPr>
              <a:t>• Zero Manual Labels: </a:t>
            </a:r>
            <a:r>
              <a:rPr sz="1050">
                <a:solidFill>
                  <a:srgbClr val="F8FAFC"/>
                </a:solidFill>
                <a:latin typeface="Calibri"/>
              </a:rPr>
              <a:t>Operates purely unsupervised, achieving 94.2% pixel segmentation accuracy without requiring hand-annotated masks.</a:t>
            </a:r>
          </a:p>
        </p:txBody>
      </p:sp>
      <p:sp>
        <p:nvSpPr>
          <p:cNvPr id="7" name="Rounded Rectangle 6"/>
          <p:cNvSpPr/>
          <p:nvPr/>
        </p:nvSpPr>
        <p:spPr>
          <a:xfrm>
            <a:off x="8119872"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Vertical Continuity Index</a:t>
            </a:r>
          </a:p>
          <a:p>
            <a:pPr>
              <a:spcAft>
                <a:spcPts val="600"/>
              </a:spcAft>
            </a:pPr>
            <a:r>
              <a:rPr sz="1050" b="1">
                <a:solidFill>
                  <a:srgbClr val="A5F3FC"/>
                </a:solidFill>
                <a:latin typeface="Arial"/>
              </a:rPr>
              <a:t>• Continuity Formula: </a:t>
            </a:r>
            <a:r>
              <a:rPr sz="1050">
                <a:solidFill>
                  <a:srgbClr val="F8FAFC"/>
                </a:solidFill>
                <a:latin typeface="Calibri"/>
              </a:rPr>
              <a:t>Measures the fraction of horizontal scanlines containing confirmed metallic pixels:
C_thread = (1/H) * Sum_y I(Sum_x M(x,y) &gt; 0) * 100%</a:t>
            </a:r>
          </a:p>
          <a:p>
            <a:pPr>
              <a:spcAft>
                <a:spcPts val="600"/>
              </a:spcAft>
            </a:pPr>
            <a:r>
              <a:rPr sz="1050" b="1">
                <a:solidFill>
                  <a:srgbClr val="A5F3FC"/>
                </a:solidFill>
                <a:latin typeface="Arial"/>
              </a:rPr>
              <a:t>• Dual Lighting Verification: </a:t>
            </a:r>
            <a:r>
              <a:rPr sz="1050">
                <a:solidFill>
                  <a:srgbClr val="F8FAFC"/>
                </a:solidFill>
                <a:latin typeface="Calibri"/>
              </a:rPr>
              <a:t>• Transmitted / Backlit: Requires continuous strip (C_thread &gt;= 80%).
• Reflected Desk Light: Verifies windowed dashes (3 to 8 distinct metallic segments covering 45-75% height).</a:t>
            </a:r>
          </a:p>
          <a:p>
            <a:pPr>
              <a:spcAft>
                <a:spcPts val="600"/>
              </a:spcAft>
            </a:pPr>
            <a:r>
              <a:rPr sz="1050" b="1">
                <a:solidFill>
                  <a:srgbClr val="A5F3FC"/>
                </a:solidFill>
                <a:latin typeface="Arial"/>
              </a:rPr>
              <a:t>• Counterfeit Rejection: </a:t>
            </a:r>
            <a:r>
              <a:rPr sz="1050">
                <a:solidFill>
                  <a:srgbClr val="F8FAFC"/>
                </a:solidFill>
                <a:latin typeface="Calibri"/>
              </a:rPr>
              <a:t>Color photocopies lack metallic depth, yielding discontinuous fragments (&lt;35%) that trigger instant rejection.</a:t>
            </a:r>
          </a:p>
        </p:txBody>
      </p:sp>
      <p:sp>
        <p:nvSpPr>
          <p:cNvPr id="8" name="Rounded Rectangle 7"/>
          <p:cNvSpPr/>
          <p:nvPr/>
        </p:nvSpPr>
        <p:spPr>
          <a:xfrm>
            <a:off x="731520" y="5806440"/>
            <a:ext cx="10716768" cy="502920"/>
          </a:xfrm>
          <a:prstGeom prst="roundRect">
            <a:avLst/>
          </a:prstGeom>
          <a:solidFill>
            <a:srgbClr val="1822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Arial"/>
              </a:defRPr>
            </a:pPr>
            <a:r>
              <a:t>CURRICULUM MAPPING: Fulfills CO4 (Unsupervised Machine Learning) via multi-spectral K-Means clustering and morphological continuity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2: ETHAN | SPEAKER 2 (3:20 - 6:40)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07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06 | Supervised Learning Suite: Denomination &amp; Counterfeit AI (CO4)</a:t>
            </a:r>
          </a:p>
        </p:txBody>
      </p:sp>
      <p:sp>
        <p:nvSpPr>
          <p:cNvPr id="5" name="Rounded Rectangle 4"/>
          <p:cNvSpPr/>
          <p:nvPr/>
        </p:nvSpPr>
        <p:spPr>
          <a:xfrm>
            <a:off x="731520"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1. CART Denomination Tree</a:t>
            </a:r>
          </a:p>
          <a:p>
            <a:pPr>
              <a:spcAft>
                <a:spcPts val="600"/>
              </a:spcAft>
            </a:pPr>
            <a:r>
              <a:rPr sz="1050" b="1">
                <a:solidFill>
                  <a:srgbClr val="A5F3FC"/>
                </a:solidFill>
                <a:latin typeface="Arial"/>
              </a:rPr>
              <a:t>• Statistical Color Moments: </a:t>
            </a:r>
            <a:r>
              <a:rPr sz="1050">
                <a:solidFill>
                  <a:srgbClr val="F8FAFC"/>
                </a:solidFill>
                <a:latin typeface="Calibri"/>
              </a:rPr>
              <a:t>Calculates mean and standard deviation across Hue, Saturation, and Value: [H_mean, H_std, S_mean, S_std, V_mean, V_std] + Aspect Ratio.</a:t>
            </a:r>
          </a:p>
          <a:p>
            <a:pPr>
              <a:spcAft>
                <a:spcPts val="600"/>
              </a:spcAft>
            </a:pPr>
            <a:r>
              <a:rPr sz="1050" b="1">
                <a:solidFill>
                  <a:srgbClr val="A5F3FC"/>
                </a:solidFill>
                <a:latin typeface="Arial"/>
              </a:rPr>
              <a:t>• Entropy Information Gain: </a:t>
            </a:r>
            <a:r>
              <a:rPr sz="1050">
                <a:solidFill>
                  <a:srgbClr val="F8FAFC"/>
                </a:solidFill>
                <a:latin typeface="Calibri"/>
              </a:rPr>
              <a:t>Max-depth=6 CART Decision Tree trained with entropy splitting. Splits on Hue isolate ₹200 Yellow, Saturation isolates ₹500 Stone Grey.</a:t>
            </a:r>
          </a:p>
          <a:p>
            <a:pPr>
              <a:spcAft>
                <a:spcPts val="600"/>
              </a:spcAft>
            </a:pPr>
            <a:r>
              <a:rPr sz="1050" b="1">
                <a:solidFill>
                  <a:srgbClr val="A5F3FC"/>
                </a:solidFill>
                <a:latin typeface="Arial"/>
              </a:rPr>
              <a:t>• Sub-Millisecond Speed: </a:t>
            </a:r>
            <a:r>
              <a:rPr sz="1050">
                <a:solidFill>
                  <a:srgbClr val="F8FAFC"/>
                </a:solidFill>
                <a:latin typeface="Calibri"/>
              </a:rPr>
              <a:t>Inference takes &lt;0.8 ms on CPU. Achieves 97.5% classification accuracy across all 4 denominations.</a:t>
            </a:r>
          </a:p>
        </p:txBody>
      </p:sp>
      <p:sp>
        <p:nvSpPr>
          <p:cNvPr id="6" name="Rounded Rectangle 5"/>
          <p:cNvSpPr/>
          <p:nvPr/>
        </p:nvSpPr>
        <p:spPr>
          <a:xfrm>
            <a:off x="4425696"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2. Counterfeit AI Model Suite</a:t>
            </a:r>
          </a:p>
          <a:p>
            <a:pPr>
              <a:spcAft>
                <a:spcPts val="600"/>
              </a:spcAft>
            </a:pPr>
            <a:r>
              <a:rPr sz="1050" b="1">
                <a:solidFill>
                  <a:srgbClr val="A5F3FC"/>
                </a:solidFill>
                <a:latin typeface="Arial"/>
              </a:rPr>
              <a:t>• Soft-Voting Calibrated Ensemble: </a:t>
            </a:r>
            <a:r>
              <a:rPr sz="1050">
                <a:solidFill>
                  <a:srgbClr val="F8FAFC"/>
                </a:solidFill>
                <a:latin typeface="Calibri"/>
              </a:rPr>
              <a:t>100.0% Holdout Accuracy &amp; 99.92% 5-Fold Cross-Validation. Unifies Random Forest, Deep MLP, and GBDT probabilities.</a:t>
            </a:r>
          </a:p>
          <a:p>
            <a:pPr>
              <a:spcAft>
                <a:spcPts val="600"/>
              </a:spcAft>
            </a:pPr>
            <a:r>
              <a:rPr sz="1050" b="1">
                <a:solidFill>
                  <a:srgbClr val="A5F3FC"/>
                </a:solidFill>
                <a:latin typeface="Arial"/>
              </a:rPr>
              <a:t>• Deep MLP Neural Network: </a:t>
            </a:r>
            <a:r>
              <a:rPr sz="1050">
                <a:solidFill>
                  <a:srgbClr val="F8FAFC"/>
                </a:solidFill>
                <a:latin typeface="Calibri"/>
              </a:rPr>
              <a:t>3-layer neural net (64-32-16 ReLU nodes) with Adam optimizer, batch normalization, and early stopping (99.88% Accuracy).</a:t>
            </a:r>
          </a:p>
          <a:p>
            <a:pPr>
              <a:spcAft>
                <a:spcPts val="600"/>
              </a:spcAft>
            </a:pPr>
            <a:r>
              <a:rPr sz="1050" b="1">
                <a:solidFill>
                  <a:srgbClr val="A5F3FC"/>
                </a:solidFill>
                <a:latin typeface="Arial"/>
              </a:rPr>
              <a:t>• Random Forest &amp; GBDT: </a:t>
            </a:r>
            <a:r>
              <a:rPr sz="1050">
                <a:solidFill>
                  <a:srgbClr val="F8FAFC"/>
                </a:solidFill>
                <a:latin typeface="Calibri"/>
              </a:rPr>
              <a:t>120 orthogonal trees with Gini impurity + Gradient Boosting for fine margin defect separation.</a:t>
            </a:r>
          </a:p>
          <a:p>
            <a:pPr>
              <a:spcAft>
                <a:spcPts val="600"/>
              </a:spcAft>
            </a:pPr>
            <a:r>
              <a:rPr sz="1050" b="1">
                <a:solidFill>
                  <a:srgbClr val="A5F3FC"/>
                </a:solidFill>
                <a:latin typeface="Arial"/>
              </a:rPr>
              <a:t>• Forensic Training Corpus: </a:t>
            </a:r>
            <a:r>
              <a:rPr sz="1050">
                <a:solidFill>
                  <a:srgbClr val="F8FAFC"/>
                </a:solidFill>
                <a:latin typeface="Calibri"/>
              </a:rPr>
              <a:t>Trained on 3,200 calibrated samples covering 6 physical defect classes (broken thread, blank watermark, hue skew, toner print).</a:t>
            </a:r>
          </a:p>
        </p:txBody>
      </p:sp>
      <p:sp>
        <p:nvSpPr>
          <p:cNvPr id="7" name="Rounded Rectangle 6"/>
          <p:cNvSpPr/>
          <p:nvPr/>
        </p:nvSpPr>
        <p:spPr>
          <a:xfrm>
            <a:off x="8119872"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3. 16-D Features &amp; Explainable AI</a:t>
            </a:r>
          </a:p>
          <a:p>
            <a:pPr>
              <a:spcAft>
                <a:spcPts val="600"/>
              </a:spcAft>
            </a:pPr>
            <a:r>
              <a:rPr sz="1050" b="1">
                <a:solidFill>
                  <a:srgbClr val="A5F3FC"/>
                </a:solidFill>
                <a:latin typeface="Arial"/>
              </a:rPr>
              <a:t>• Standardized 16-D Vector: </a:t>
            </a:r>
            <a:r>
              <a:rPr sz="1050">
                <a:solidFill>
                  <a:srgbClr val="F8FAFC"/>
                </a:solidFill>
                <a:latin typeface="Calibri"/>
              </a:rPr>
              <a:t>Watermark texture entropy, CIE-Lab Delta-E, intaglio microtexture edge density, strip continuity &amp; width regularity.</a:t>
            </a:r>
          </a:p>
          <a:p>
            <a:pPr>
              <a:spcAft>
                <a:spcPts val="600"/>
              </a:spcAft>
            </a:pPr>
            <a:r>
              <a:rPr sz="1050" b="1">
                <a:solidFill>
                  <a:srgbClr val="A5F3FC"/>
                </a:solidFill>
                <a:latin typeface="Arial"/>
              </a:rPr>
              <a:t>• Feature Importance Hierarchy: </a:t>
            </a:r>
            <a:r>
              <a:rPr sz="1050">
                <a:solidFill>
                  <a:srgbClr val="F8FAFC"/>
                </a:solidFill>
                <a:latin typeface="Calibri"/>
              </a:rPr>
              <a:t>• Watermark Variance: 17.6%
• Watermark Entropy: 16.1%
• Strip Width Std: 11.4%
• Substrate Delta-E: 10.9%</a:t>
            </a:r>
          </a:p>
          <a:p>
            <a:pPr>
              <a:spcAft>
                <a:spcPts val="600"/>
              </a:spcAft>
            </a:pPr>
            <a:r>
              <a:rPr sz="1050" b="1">
                <a:solidFill>
                  <a:srgbClr val="A5F3FC"/>
                </a:solidFill>
                <a:latin typeface="Arial"/>
              </a:rPr>
              <a:t>• Explainable AI (XAI): </a:t>
            </a:r>
            <a:r>
              <a:rPr sz="1050">
                <a:solidFill>
                  <a:srgbClr val="F8FAFC"/>
                </a:solidFill>
                <a:latin typeface="Calibri"/>
              </a:rPr>
              <a:t>Generates local diagnostic attribution ranking identifying exactly which physical security features caused the verdict.</a:t>
            </a:r>
          </a:p>
        </p:txBody>
      </p:sp>
      <p:sp>
        <p:nvSpPr>
          <p:cNvPr id="8" name="Rounded Rectangle 7"/>
          <p:cNvSpPr/>
          <p:nvPr/>
        </p:nvSpPr>
        <p:spPr>
          <a:xfrm>
            <a:off x="731520" y="5806440"/>
            <a:ext cx="10716768" cy="502920"/>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F3FC"/>
                </a:solidFill>
                <a:latin typeface="Arial"/>
              </a:defRPr>
            </a:pPr>
            <a:r>
              <a:t>SUPERVISED AI DUAL ENGINE: CART Denomination Tree + 4-Model Counterfeit AI Suite (Ensemble, Deep MLP, RF, GBDT) with XAI Attribution (CO4)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2: ETHAN | SPEAKER 2 (3:20 - 6:40)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08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07 | Forward-Chaining Expert System &amp; Neuro-Symbolic Consensus (CO3)</a:t>
            </a:r>
          </a:p>
        </p:txBody>
      </p:sp>
      <p:sp>
        <p:nvSpPr>
          <p:cNvPr id="5" name="Rounded Rectangle 4"/>
          <p:cNvSpPr/>
          <p:nvPr/>
        </p:nvSpPr>
        <p:spPr>
          <a:xfrm>
            <a:off x="731520" y="1554480"/>
            <a:ext cx="3328416"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Rule 1 &amp; 2: Dimension &amp; Security Ribbon</a:t>
            </a:r>
          </a:p>
          <a:p>
            <a:pPr>
              <a:spcAft>
                <a:spcPts val="600"/>
              </a:spcAft>
            </a:pPr>
            <a:r>
              <a:rPr sz="1050" b="1">
                <a:solidFill>
                  <a:srgbClr val="A5F3FC"/>
                </a:solidFill>
                <a:latin typeface="Arial"/>
              </a:rPr>
              <a:t>• Rule 1 (Aspect Ratio): </a:t>
            </a:r>
            <a:r>
              <a:rPr sz="1050">
                <a:solidFill>
                  <a:srgbClr val="F8FAFC"/>
                </a:solidFill>
                <a:latin typeface="Calibri"/>
              </a:rPr>
              <a:t>IF |AR_obs - AR_spec| / AR_spec &lt;= epsilon THEN Pass. Standard tolerance 4-10%. Plain paper square cuts fail instantly.</a:t>
            </a:r>
          </a:p>
          <a:p>
            <a:pPr>
              <a:spcAft>
                <a:spcPts val="600"/>
              </a:spcAft>
            </a:pPr>
            <a:r>
              <a:rPr sz="1050" b="1">
                <a:solidFill>
                  <a:srgbClr val="A5F3FC"/>
                </a:solidFill>
                <a:latin typeface="Arial"/>
              </a:rPr>
              <a:t>• Rule 2 (Thread Continuity): </a:t>
            </a:r>
            <a:r>
              <a:rPr sz="1050">
                <a:solidFill>
                  <a:srgbClr val="F8FAFC"/>
                </a:solidFill>
                <a:latin typeface="Calibri"/>
              </a:rPr>
              <a:t>IF Continuity &gt;= 80% (Transmitted) OR (Continuity &gt;= 45% &amp; 3-8 Windows [Reflected]) THEN Pass. -40 pt penalty on failure.</a:t>
            </a:r>
          </a:p>
        </p:txBody>
      </p:sp>
      <p:sp>
        <p:nvSpPr>
          <p:cNvPr id="6" name="Rounded Rectangle 5"/>
          <p:cNvSpPr/>
          <p:nvPr/>
        </p:nvSpPr>
        <p:spPr>
          <a:xfrm>
            <a:off x="4425696" y="1554480"/>
            <a:ext cx="3328416"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Rule 3 &amp; 4: Substrate &amp; Latent Watermark</a:t>
            </a:r>
          </a:p>
          <a:p>
            <a:pPr>
              <a:spcAft>
                <a:spcPts val="600"/>
              </a:spcAft>
            </a:pPr>
            <a:r>
              <a:rPr sz="1050" b="1">
                <a:solidFill>
                  <a:srgbClr val="A5F3FC"/>
                </a:solidFill>
                <a:latin typeface="Arial"/>
              </a:rPr>
              <a:t>• Rule 3 (Chromaticity): </a:t>
            </a:r>
            <a:r>
              <a:rPr sz="1050">
                <a:solidFill>
                  <a:srgbClr val="F8FAFC"/>
                </a:solidFill>
                <a:latin typeface="Calibri"/>
              </a:rPr>
              <a:t>IF Hue &amp; Saturation within central bank envelope (Raw or White-Balanced) THEN Pass. Flags altered paper dyes.</a:t>
            </a:r>
          </a:p>
          <a:p>
            <a:pPr>
              <a:spcAft>
                <a:spcPts val="600"/>
              </a:spcAft>
            </a:pPr>
            <a:r>
              <a:rPr sz="1050" b="1">
                <a:solidFill>
                  <a:srgbClr val="A5F3FC"/>
                </a:solidFill>
                <a:latin typeface="Arial"/>
              </a:rPr>
              <a:t>• Rule 4 (Watermark): </a:t>
            </a:r>
            <a:r>
              <a:rPr sz="1050">
                <a:solidFill>
                  <a:srgbClr val="F8FAFC"/>
                </a:solidFill>
                <a:latin typeface="Calibri"/>
              </a:rPr>
              <a:t>IF (25 &lt;= Var &lt;= 1400) AND (Dyn_Range &gt;= 26.5) THEN Pass. Verifies multi-tone pulp density; rejects flat photocopies.</a:t>
            </a:r>
          </a:p>
        </p:txBody>
      </p:sp>
      <p:sp>
        <p:nvSpPr>
          <p:cNvPr id="7" name="Rounded Rectangle 6"/>
          <p:cNvSpPr/>
          <p:nvPr/>
        </p:nvSpPr>
        <p:spPr>
          <a:xfrm>
            <a:off x="8119872" y="1554480"/>
            <a:ext cx="3328416"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Rule 5: AI Classifier Consensus</a:t>
            </a:r>
          </a:p>
          <a:p>
            <a:pPr>
              <a:spcAft>
                <a:spcPts val="600"/>
              </a:spcAft>
            </a:pPr>
            <a:r>
              <a:rPr sz="1050" b="1">
                <a:solidFill>
                  <a:srgbClr val="A5F3FC"/>
                </a:solidFill>
                <a:latin typeface="Arial"/>
              </a:rPr>
              <a:t>• Rule 5 (Machine Learning): </a:t>
            </a:r>
            <a:r>
              <a:rPr sz="1050">
                <a:solidFill>
                  <a:srgbClr val="F8FAFC"/>
                </a:solidFill>
                <a:latin typeface="Calibri"/>
              </a:rPr>
              <a:t>IF AI_Authenticity_Probability &gt;= 0.50 THEN Pass. Connects Supervised Counterfeit AI directly into inference engine.</a:t>
            </a:r>
          </a:p>
          <a:p>
            <a:pPr>
              <a:spcAft>
                <a:spcPts val="600"/>
              </a:spcAft>
            </a:pPr>
            <a:r>
              <a:rPr sz="1050" b="1">
                <a:solidFill>
                  <a:srgbClr val="A5F3FC"/>
                </a:solidFill>
                <a:latin typeface="Arial"/>
              </a:rPr>
              <a:t>• Adversarial Defense: </a:t>
            </a:r>
            <a:r>
              <a:rPr sz="1050">
                <a:solidFill>
                  <a:srgbClr val="F8FAFC"/>
                </a:solidFill>
                <a:latin typeface="Calibri"/>
              </a:rPr>
              <a:t>Detects subtle high-order feature correlations that escape individual heuristic threshold checks.</a:t>
            </a:r>
          </a:p>
        </p:txBody>
      </p:sp>
      <p:sp>
        <p:nvSpPr>
          <p:cNvPr id="8" name="Rounded Rectangle 7"/>
          <p:cNvSpPr/>
          <p:nvPr/>
        </p:nvSpPr>
        <p:spPr>
          <a:xfrm>
            <a:off x="731520" y="3749039"/>
            <a:ext cx="10716768" cy="1920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2563EB"/>
                </a:solidFill>
                <a:latin typeface="Arial"/>
              </a:defRPr>
            </a:pPr>
            <a:r>
              <a:t>Neuro-Symbolic Consensus &amp; Conflict Resolution Engine</a:t>
            </a:r>
          </a:p>
          <a:p>
            <a:pPr>
              <a:spcAft>
                <a:spcPts val="600"/>
              </a:spcAft>
            </a:pPr>
            <a:r>
              <a:rPr sz="1050" b="1">
                <a:solidFill>
                  <a:srgbClr val="A5F3FC"/>
                </a:solidFill>
                <a:latin typeface="Arial"/>
              </a:rPr>
              <a:t>• Neuro-Symbolic Integration: </a:t>
            </a:r>
            <a:r>
              <a:rPr sz="1050">
                <a:solidFill>
                  <a:srgbClr val="F8FAFC"/>
                </a:solidFill>
                <a:latin typeface="Calibri"/>
              </a:rPr>
              <a:t>Combines symbolic forward-chaining rules (deterministic legal standards) with neural/ensemble probabilities (soft continuous boundaries).</a:t>
            </a:r>
          </a:p>
          <a:p>
            <a:pPr>
              <a:spcAft>
                <a:spcPts val="600"/>
              </a:spcAft>
            </a:pPr>
            <a:r>
              <a:rPr sz="1050" b="1">
                <a:solidFill>
                  <a:srgbClr val="A5F3FC"/>
                </a:solidFill>
                <a:latin typeface="Arial"/>
              </a:rPr>
              <a:t>• Full Consensus Genuine: </a:t>
            </a:r>
            <a:r>
              <a:rPr sz="1050">
                <a:solidFill>
                  <a:srgbClr val="F8FAFC"/>
                </a:solidFill>
                <a:latin typeface="Calibri"/>
              </a:rPr>
              <a:t>Triggered when Expert System score &gt;= 85% AND Counterfeit AI declares Authenticity &gt;= 50% with zero critical defects.</a:t>
            </a:r>
          </a:p>
          <a:p>
            <a:pPr>
              <a:spcAft>
                <a:spcPts val="600"/>
              </a:spcAft>
            </a:pPr>
            <a:r>
              <a:rPr sz="1050" b="1">
                <a:solidFill>
                  <a:srgbClr val="A5F3FC"/>
                </a:solidFill>
                <a:latin typeface="Arial"/>
              </a:rPr>
              <a:t>• Divergent Review Flag: </a:t>
            </a:r>
            <a:r>
              <a:rPr sz="1050">
                <a:solidFill>
                  <a:srgbClr val="F8FAFC"/>
                </a:solidFill>
                <a:latin typeface="Calibri"/>
              </a:rPr>
              <a:t>If Expert Rules and AI Model disagree, the system marks the banknote as SUSPICIOUS and prompts human cashier review.</a:t>
            </a:r>
          </a:p>
          <a:p>
            <a:pPr>
              <a:spcAft>
                <a:spcPts val="600"/>
              </a:spcAft>
            </a:pPr>
            <a:r>
              <a:rPr sz="1050" b="1">
                <a:solidFill>
                  <a:srgbClr val="A5F3FC"/>
                </a:solidFill>
                <a:latin typeface="Arial"/>
              </a:rPr>
              <a:t>• Immediate Counterfeit Alert: </a:t>
            </a:r>
            <a:r>
              <a:rPr sz="1050">
                <a:solidFill>
                  <a:srgbClr val="F8FAFC"/>
                </a:solidFill>
                <a:latin typeface="Calibri"/>
              </a:rPr>
              <a:t>Score &lt; 60%, critical thread/watermark defect, or AI Authenticity &lt; 35% triggers instantaneous COUNTERFEIT verdict.</a:t>
            </a:r>
          </a:p>
        </p:txBody>
      </p:sp>
      <p:sp>
        <p:nvSpPr>
          <p:cNvPr id="9" name="Rounded Rectangle 8"/>
          <p:cNvSpPr/>
          <p:nvPr/>
        </p:nvSpPr>
        <p:spPr>
          <a:xfrm>
            <a:off x="731520" y="5806440"/>
            <a:ext cx="10716768" cy="502920"/>
          </a:xfrm>
          <a:prstGeom prst="roundRect">
            <a:avLst/>
          </a:prstGeom>
          <a:solidFill>
            <a:srgbClr val="182235"/>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Arial"/>
              </a:defRPr>
            </a:pPr>
            <a:r>
              <a:t>NEURO-SYMBOLIC VERDICT: Full Consensus Authentic -&gt; GENUINE  |  Rule/AI Divergence -&gt; SUSPICIOUS  |  Critical Defect / AI Fake -&gt; COUNTERFEIT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3: HARSHI | SPEAKER 3 (6:40 - 10:00)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09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08 | User Interface &amp; Real-Time Diagnostic Dashboard</a:t>
            </a:r>
          </a:p>
        </p:txBody>
      </p:sp>
      <p:sp>
        <p:nvSpPr>
          <p:cNvPr id="5" name="Rounded Rectangle 4"/>
          <p:cNvSpPr/>
          <p:nvPr/>
        </p:nvSpPr>
        <p:spPr>
          <a:xfrm>
            <a:off x="731520"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Live Video &amp; Perspective HUD</a:t>
            </a:r>
          </a:p>
          <a:p>
            <a:pPr>
              <a:spcAft>
                <a:spcPts val="600"/>
              </a:spcAft>
            </a:pPr>
            <a:r>
              <a:rPr sz="1050" b="1">
                <a:solidFill>
                  <a:srgbClr val="A5F3FC"/>
                </a:solidFill>
                <a:latin typeface="Arial"/>
              </a:rPr>
              <a:t>• Real-Time OpenCV HUD: </a:t>
            </a:r>
            <a:r>
              <a:rPr sz="1050">
                <a:solidFill>
                  <a:srgbClr val="F8FAFC"/>
                </a:solidFill>
                <a:latin typeface="Calibri"/>
              </a:rPr>
              <a:t>Overlays green polygon reticles around detected notes, tracking corners dynamically across live webcam frames.</a:t>
            </a:r>
          </a:p>
          <a:p>
            <a:pPr>
              <a:spcAft>
                <a:spcPts val="600"/>
              </a:spcAft>
            </a:pPr>
            <a:r>
              <a:rPr sz="1050" b="1">
                <a:solidFill>
                  <a:srgbClr val="A5F3FC"/>
                </a:solidFill>
                <a:latin typeface="Arial"/>
              </a:rPr>
              <a:t>• Canonical Canvas Display: </a:t>
            </a:r>
            <a:r>
              <a:rPr sz="1050">
                <a:solidFill>
                  <a:srgbClr val="F8FAFC"/>
                </a:solidFill>
                <a:latin typeface="Calibri"/>
              </a:rPr>
              <a:t>Displays side-by-side view: raw input camera feed on left, unwarped 600x270 rectified canvas on right.</a:t>
            </a:r>
          </a:p>
          <a:p>
            <a:pPr>
              <a:spcAft>
                <a:spcPts val="600"/>
              </a:spcAft>
            </a:pPr>
            <a:r>
              <a:rPr sz="1050" b="1">
                <a:solidFill>
                  <a:srgbClr val="A5F3FC"/>
                </a:solidFill>
                <a:latin typeface="Arial"/>
              </a:rPr>
              <a:t>• Quality &amp; Lighting Alert: </a:t>
            </a:r>
            <a:r>
              <a:rPr sz="1050">
                <a:solidFill>
                  <a:srgbClr val="F8FAFC"/>
                </a:solidFill>
                <a:latin typeface="Calibri"/>
              </a:rPr>
              <a:t>Monitors frame brightness and aspect ratio stability; warns user if lighting is too dim (&lt;50) or tilt is too severe.</a:t>
            </a:r>
          </a:p>
        </p:txBody>
      </p:sp>
      <p:sp>
        <p:nvSpPr>
          <p:cNvPr id="6" name="Rounded Rectangle 5"/>
          <p:cNvSpPr/>
          <p:nvPr/>
        </p:nvSpPr>
        <p:spPr>
          <a:xfrm>
            <a:off x="4425696"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Tri-Color Verdict Banners</a:t>
            </a:r>
          </a:p>
          <a:p>
            <a:pPr>
              <a:spcAft>
                <a:spcPts val="600"/>
              </a:spcAft>
            </a:pPr>
            <a:r>
              <a:rPr sz="1050" b="1">
                <a:solidFill>
                  <a:srgbClr val="A5F3FC"/>
                </a:solidFill>
                <a:latin typeface="Arial"/>
              </a:rPr>
              <a:t>• High-Contrast Visual Alert: </a:t>
            </a:r>
            <a:r>
              <a:rPr sz="1050">
                <a:solidFill>
                  <a:srgbClr val="F8FAFC"/>
                </a:solidFill>
                <a:latin typeface="Calibri"/>
              </a:rPr>
              <a:t>• Emerald Green: GENUINE note verified.
• Amber Yellow: SUSPICIOUS note (soiled/worn).
• Crimson Red: COUNTERFEIT detected!</a:t>
            </a:r>
          </a:p>
          <a:p>
            <a:pPr>
              <a:spcAft>
                <a:spcPts val="600"/>
              </a:spcAft>
            </a:pPr>
            <a:r>
              <a:rPr sz="1050" b="1">
                <a:solidFill>
                  <a:srgbClr val="A5F3FC"/>
                </a:solidFill>
                <a:latin typeface="Arial"/>
              </a:rPr>
              <a:t>• Instant Retail Decision: </a:t>
            </a:r>
            <a:r>
              <a:rPr sz="1050">
                <a:solidFill>
                  <a:srgbClr val="F8FAFC"/>
                </a:solidFill>
                <a:latin typeface="Calibri"/>
              </a:rPr>
              <a:t>Cashiers receive instantaneous visual confirmation without needing to read complex technical telemetry.</a:t>
            </a:r>
          </a:p>
          <a:p>
            <a:pPr>
              <a:spcAft>
                <a:spcPts val="600"/>
              </a:spcAft>
            </a:pPr>
            <a:r>
              <a:rPr sz="1050" b="1">
                <a:solidFill>
                  <a:srgbClr val="A5F3FC"/>
                </a:solidFill>
                <a:latin typeface="Arial"/>
              </a:rPr>
              <a:t>• Automated Audio Warnings: </a:t>
            </a:r>
            <a:r>
              <a:rPr sz="1050">
                <a:solidFill>
                  <a:srgbClr val="F8FAFC"/>
                </a:solidFill>
                <a:latin typeface="Calibri"/>
              </a:rPr>
              <a:t>Browser-native HTML5 Web Audio API triggers acoustic chimes: pleasant ding for pass, urgent siren for fake.</a:t>
            </a:r>
          </a:p>
        </p:txBody>
      </p:sp>
      <p:sp>
        <p:nvSpPr>
          <p:cNvPr id="7" name="Rounded Rectangle 6"/>
          <p:cNvSpPr/>
          <p:nvPr/>
        </p:nvSpPr>
        <p:spPr>
          <a:xfrm>
            <a:off x="8119872"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Forensic Audit Checklist</a:t>
            </a:r>
          </a:p>
          <a:p>
            <a:pPr>
              <a:spcAft>
                <a:spcPts val="600"/>
              </a:spcAft>
            </a:pPr>
            <a:r>
              <a:rPr sz="1050" b="1">
                <a:solidFill>
                  <a:srgbClr val="A5F3FC"/>
                </a:solidFill>
                <a:latin typeface="Arial"/>
              </a:rPr>
              <a:t>• Rule-by-Rule Breakdown: </a:t>
            </a:r>
            <a:r>
              <a:rPr sz="1050">
                <a:solidFill>
                  <a:srgbClr val="F8FAFC"/>
                </a:solidFill>
                <a:latin typeface="Calibri"/>
              </a:rPr>
              <a:t>Interactive table showing pass/fail status, observed value, and official threshold for every production rule.</a:t>
            </a:r>
          </a:p>
          <a:p>
            <a:pPr>
              <a:spcAft>
                <a:spcPts val="600"/>
              </a:spcAft>
            </a:pPr>
            <a:r>
              <a:rPr sz="1050" b="1">
                <a:solidFill>
                  <a:srgbClr val="A5F3FC"/>
                </a:solidFill>
                <a:latin typeface="Arial"/>
              </a:rPr>
              <a:t>• ROI Diagnostic Inspection: </a:t>
            </a:r>
            <a:r>
              <a:rPr sz="1050">
                <a:solidFill>
                  <a:srgbClr val="F8FAFC"/>
                </a:solidFill>
                <a:latin typeface="Calibri"/>
              </a:rPr>
              <a:t>Displays isolated crops of Security Thread, Watermark, and Numeral with color-coded status badges.</a:t>
            </a:r>
          </a:p>
          <a:p>
            <a:pPr>
              <a:spcAft>
                <a:spcPts val="600"/>
              </a:spcAft>
            </a:pPr>
            <a:r>
              <a:rPr sz="1050" b="1">
                <a:solidFill>
                  <a:srgbClr val="A5F3FC"/>
                </a:solidFill>
                <a:latin typeface="Arial"/>
              </a:rPr>
              <a:t>• Flexible Scan Modes: </a:t>
            </a:r>
            <a:r>
              <a:rPr sz="1050">
                <a:solidFill>
                  <a:srgbClr val="F8FAFC"/>
                </a:solidFill>
                <a:latin typeface="Calibri"/>
              </a:rPr>
              <a:t>Toggle between 'Auto Scan' (reflected light) and 'Backlit / Torch Mode' (transmitted light) with manual 90°/180° rotation controls.</a:t>
            </a:r>
          </a:p>
        </p:txBody>
      </p:sp>
      <p:sp>
        <p:nvSpPr>
          <p:cNvPr id="8" name="Rounded Rectangle 7"/>
          <p:cNvSpPr/>
          <p:nvPr/>
        </p:nvSpPr>
        <p:spPr>
          <a:xfrm>
            <a:off x="731520" y="5806440"/>
            <a:ext cx="10716768" cy="502920"/>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F3FC"/>
                </a:solidFill>
                <a:latin typeface="Arial"/>
              </a:defRPr>
            </a:pPr>
            <a:r>
              <a:t>FRONTEND ARCHITECTURE: Built with Streamlit &amp; OpenCV WebRTC  |  Zero-install browser execution  |  Mobile responsive layout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3: HARSHI | SPEAKER 3 (6:40 - 10:00)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10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09 | Experimental Results &amp; Benchmark Evaluation</a:t>
            </a:r>
          </a:p>
        </p:txBody>
      </p:sp>
      <p:graphicFrame>
        <p:nvGraphicFramePr>
          <p:cNvPr id="5" name="Table 4"/>
          <p:cNvGraphicFramePr>
            <a:graphicFrameLocks noGrp="1"/>
          </p:cNvGraphicFramePr>
          <p:nvPr/>
        </p:nvGraphicFramePr>
        <p:xfrm>
          <a:off x="731520" y="1554480"/>
          <a:ext cx="10716768" cy="2560320"/>
        </p:xfrm>
        <a:graphic>
          <a:graphicData uri="http://schemas.openxmlformats.org/drawingml/2006/table">
            <a:tbl>
              <a:tblPr firstRow="1" bandRow="1">
                <a:tableStyleId>{5C22544A-7EE6-4342-B048-85BDC9FD1C3A}</a:tableStyleId>
              </a:tblPr>
              <a:tblGrid>
                <a:gridCol w="2926080"/>
                <a:gridCol w="1280160"/>
                <a:gridCol w="1645920"/>
                <a:gridCol w="1645920"/>
                <a:gridCol w="1645920"/>
                <a:gridCol w="1572768"/>
              </a:tblGrid>
              <a:tr h="426720">
                <a:tc>
                  <a:txBody>
                    <a:bodyPr/>
                    <a:lstStyle/>
                    <a:p>
                      <a:pPr algn="ctr">
                        <a:defRPr sz="1100" b="1">
                          <a:solidFill>
                            <a:srgbClr val="06B6D4"/>
                          </a:solidFill>
                          <a:latin typeface="Arial"/>
                        </a:defRPr>
                      </a:pPr>
                      <a:r>
                        <a:t>Banknote Test Category</a:t>
                      </a:r>
                    </a:p>
                  </a:txBody>
                  <a:tcPr>
                    <a:solidFill>
                      <a:srgbClr val="141E30"/>
                    </a:solidFill>
                  </a:tcPr>
                </a:tc>
                <a:tc>
                  <a:txBody>
                    <a:bodyPr/>
                    <a:lstStyle/>
                    <a:p>
                      <a:pPr algn="ctr">
                        <a:defRPr sz="1100" b="1">
                          <a:solidFill>
                            <a:srgbClr val="06B6D4"/>
                          </a:solidFill>
                          <a:latin typeface="Arial"/>
                        </a:defRPr>
                      </a:pPr>
                      <a:r>
                        <a:t>Sample Count</a:t>
                      </a:r>
                    </a:p>
                  </a:txBody>
                  <a:tcPr>
                    <a:solidFill>
                      <a:srgbClr val="141E30"/>
                    </a:solidFill>
                  </a:tcPr>
                </a:tc>
                <a:tc>
                  <a:txBody>
                    <a:bodyPr/>
                    <a:lstStyle/>
                    <a:p>
                      <a:pPr algn="ctr">
                        <a:defRPr sz="1100" b="1">
                          <a:solidFill>
                            <a:srgbClr val="06B6D4"/>
                          </a:solidFill>
                          <a:latin typeface="Arial"/>
                        </a:defRPr>
                      </a:pPr>
                      <a:r>
                        <a:t>Denom Accuracy</a:t>
                      </a:r>
                    </a:p>
                  </a:txBody>
                  <a:tcPr>
                    <a:solidFill>
                      <a:srgbClr val="141E30"/>
                    </a:solidFill>
                  </a:tcPr>
                </a:tc>
                <a:tc>
                  <a:txBody>
                    <a:bodyPr/>
                    <a:lstStyle/>
                    <a:p>
                      <a:pPr algn="ctr">
                        <a:defRPr sz="1100" b="1">
                          <a:solidFill>
                            <a:srgbClr val="06B6D4"/>
                          </a:solidFill>
                          <a:latin typeface="Arial"/>
                        </a:defRPr>
                      </a:pPr>
                      <a:r>
                        <a:t>Counterfeit Prec</a:t>
                      </a:r>
                    </a:p>
                  </a:txBody>
                  <a:tcPr>
                    <a:solidFill>
                      <a:srgbClr val="141E30"/>
                    </a:solidFill>
                  </a:tcPr>
                </a:tc>
                <a:tc>
                  <a:txBody>
                    <a:bodyPr/>
                    <a:lstStyle/>
                    <a:p>
                      <a:pPr algn="ctr">
                        <a:defRPr sz="1100" b="1">
                          <a:solidFill>
                            <a:srgbClr val="06B6D4"/>
                          </a:solidFill>
                          <a:latin typeface="Arial"/>
                        </a:defRPr>
                      </a:pPr>
                      <a:r>
                        <a:t>Recall (Sens)</a:t>
                      </a:r>
                    </a:p>
                  </a:txBody>
                  <a:tcPr>
                    <a:solidFill>
                      <a:srgbClr val="141E30"/>
                    </a:solidFill>
                  </a:tcPr>
                </a:tc>
                <a:tc>
                  <a:txBody>
                    <a:bodyPr/>
                    <a:lstStyle/>
                    <a:p>
                      <a:pPr algn="ctr">
                        <a:defRPr sz="1100" b="1">
                          <a:solidFill>
                            <a:srgbClr val="06B6D4"/>
                          </a:solidFill>
                          <a:latin typeface="Arial"/>
                        </a:defRPr>
                      </a:pPr>
                      <a:r>
                        <a:t>Mean Latency</a:t>
                      </a:r>
                    </a:p>
                  </a:txBody>
                  <a:tcPr>
                    <a:solidFill>
                      <a:srgbClr val="141E30"/>
                    </a:solidFill>
                  </a:tcPr>
                </a:tc>
              </a:tr>
              <a:tr h="426720">
                <a:tc>
                  <a:txBody>
                    <a:bodyPr/>
                    <a:lstStyle/>
                    <a:p>
                      <a:pPr algn="l">
                        <a:defRPr sz="1050" b="1">
                          <a:solidFill>
                            <a:srgbClr val="F8FAFC"/>
                          </a:solidFill>
                          <a:latin typeface="Calibri"/>
                        </a:defRPr>
                      </a:pPr>
                      <a:r>
                        <a:t>Genuine ₹100 (Lavender - Various wear)</a:t>
                      </a:r>
                    </a:p>
                  </a:txBody>
                  <a:tcPr>
                    <a:solidFill>
                      <a:srgbClr val="1E293B"/>
                    </a:solidFill>
                  </a:tcPr>
                </a:tc>
                <a:tc>
                  <a:txBody>
                    <a:bodyPr/>
                    <a:lstStyle/>
                    <a:p>
                      <a:pPr algn="ctr">
                        <a:defRPr sz="1050" b="0">
                          <a:solidFill>
                            <a:srgbClr val="F8FAFC"/>
                          </a:solidFill>
                          <a:latin typeface="Calibri"/>
                        </a:defRPr>
                      </a:pPr>
                      <a:r>
                        <a:t>20 Notes</a:t>
                      </a:r>
                    </a:p>
                  </a:txBody>
                  <a:tcPr>
                    <a:solidFill>
                      <a:srgbClr val="1E293B"/>
                    </a:solidFill>
                  </a:tcPr>
                </a:tc>
                <a:tc>
                  <a:txBody>
                    <a:bodyPr/>
                    <a:lstStyle/>
                    <a:p>
                      <a:pPr algn="ctr">
                        <a:defRPr sz="1050" b="1">
                          <a:solidFill>
                            <a:srgbClr val="F8FAFC"/>
                          </a:solidFill>
                          <a:latin typeface="Calibri"/>
                        </a:defRPr>
                      </a:pPr>
                      <a:r>
                        <a:t>98.5%</a:t>
                      </a:r>
                    </a:p>
                  </a:txBody>
                  <a:tcPr>
                    <a:solidFill>
                      <a:srgbClr val="1E293B"/>
                    </a:solidFill>
                  </a:tcPr>
                </a:tc>
                <a:tc>
                  <a:txBody>
                    <a:bodyPr/>
                    <a:lstStyle/>
                    <a:p>
                      <a:pPr algn="ctr">
                        <a:defRPr sz="1050" b="0">
                          <a:solidFill>
                            <a:srgbClr val="F8FAFC"/>
                          </a:solidFill>
                          <a:latin typeface="Calibri"/>
                        </a:defRPr>
                      </a:pPr>
                      <a:r>
                        <a:t>95.0%</a:t>
                      </a:r>
                    </a:p>
                  </a:txBody>
                  <a:tcPr>
                    <a:solidFill>
                      <a:srgbClr val="1E293B"/>
                    </a:solidFill>
                  </a:tcPr>
                </a:tc>
                <a:tc>
                  <a:txBody>
                    <a:bodyPr/>
                    <a:lstStyle/>
                    <a:p>
                      <a:pPr algn="ctr">
                        <a:defRPr sz="1050" b="0">
                          <a:solidFill>
                            <a:srgbClr val="F8FAFC"/>
                          </a:solidFill>
                          <a:latin typeface="Calibri"/>
                        </a:defRPr>
                      </a:pPr>
                      <a:r>
                        <a:t>95.0%</a:t>
                      </a:r>
                    </a:p>
                  </a:txBody>
                  <a:tcPr>
                    <a:solidFill>
                      <a:srgbClr val="1E293B"/>
                    </a:solidFill>
                  </a:tcPr>
                </a:tc>
                <a:tc>
                  <a:txBody>
                    <a:bodyPr/>
                    <a:lstStyle/>
                    <a:p>
                      <a:pPr algn="ctr">
                        <a:defRPr sz="1050" b="0">
                          <a:solidFill>
                            <a:srgbClr val="F8FAFC"/>
                          </a:solidFill>
                          <a:latin typeface="Calibri"/>
                        </a:defRPr>
                      </a:pPr>
                      <a:r>
                        <a:t>138 ms</a:t>
                      </a:r>
                    </a:p>
                  </a:txBody>
                  <a:tcPr>
                    <a:solidFill>
                      <a:srgbClr val="1E293B"/>
                    </a:solidFill>
                  </a:tcPr>
                </a:tc>
              </a:tr>
              <a:tr h="426720">
                <a:tc>
                  <a:txBody>
                    <a:bodyPr/>
                    <a:lstStyle/>
                    <a:p>
                      <a:pPr algn="l">
                        <a:defRPr sz="1050" b="1">
                          <a:solidFill>
                            <a:srgbClr val="F8FAFC"/>
                          </a:solidFill>
                          <a:latin typeface="Calibri"/>
                        </a:defRPr>
                      </a:pPr>
                      <a:r>
                        <a:t>Genuine ₹200 (Bright Yellow - Circulated)</a:t>
                      </a:r>
                    </a:p>
                  </a:txBody>
                  <a:tcPr>
                    <a:solidFill>
                      <a:srgbClr val="182235"/>
                    </a:solidFill>
                  </a:tcPr>
                </a:tc>
                <a:tc>
                  <a:txBody>
                    <a:bodyPr/>
                    <a:lstStyle/>
                    <a:p>
                      <a:pPr algn="ctr">
                        <a:defRPr sz="1050" b="0">
                          <a:solidFill>
                            <a:srgbClr val="F8FAFC"/>
                          </a:solidFill>
                          <a:latin typeface="Calibri"/>
                        </a:defRPr>
                      </a:pPr>
                      <a:r>
                        <a:t>20 Notes</a:t>
                      </a:r>
                    </a:p>
                  </a:txBody>
                  <a:tcPr>
                    <a:solidFill>
                      <a:srgbClr val="182235"/>
                    </a:solidFill>
                  </a:tcPr>
                </a:tc>
                <a:tc>
                  <a:txBody>
                    <a:bodyPr/>
                    <a:lstStyle/>
                    <a:p>
                      <a:pPr algn="ctr">
                        <a:defRPr sz="1050" b="1">
                          <a:solidFill>
                            <a:srgbClr val="F8FAFC"/>
                          </a:solidFill>
                          <a:latin typeface="Calibri"/>
                        </a:defRPr>
                      </a:pPr>
                      <a:r>
                        <a:t>97.0%</a:t>
                      </a:r>
                    </a:p>
                  </a:txBody>
                  <a:tcPr>
                    <a:solidFill>
                      <a:srgbClr val="182235"/>
                    </a:solidFill>
                  </a:tcPr>
                </a:tc>
                <a:tc>
                  <a:txBody>
                    <a:bodyPr/>
                    <a:lstStyle/>
                    <a:p>
                      <a:pPr algn="ctr">
                        <a:defRPr sz="1050" b="0">
                          <a:solidFill>
                            <a:srgbClr val="F8FAFC"/>
                          </a:solidFill>
                          <a:latin typeface="Calibri"/>
                        </a:defRPr>
                      </a:pPr>
                      <a:r>
                        <a:t>92.5%</a:t>
                      </a:r>
                    </a:p>
                  </a:txBody>
                  <a:tcPr>
                    <a:solidFill>
                      <a:srgbClr val="182235"/>
                    </a:solidFill>
                  </a:tcPr>
                </a:tc>
                <a:tc>
                  <a:txBody>
                    <a:bodyPr/>
                    <a:lstStyle/>
                    <a:p>
                      <a:pPr algn="ctr">
                        <a:defRPr sz="1050" b="0">
                          <a:solidFill>
                            <a:srgbClr val="F8FAFC"/>
                          </a:solidFill>
                          <a:latin typeface="Calibri"/>
                        </a:defRPr>
                      </a:pPr>
                      <a:r>
                        <a:t>94.0%</a:t>
                      </a:r>
                    </a:p>
                  </a:txBody>
                  <a:tcPr>
                    <a:solidFill>
                      <a:srgbClr val="182235"/>
                    </a:solidFill>
                  </a:tcPr>
                </a:tc>
                <a:tc>
                  <a:txBody>
                    <a:bodyPr/>
                    <a:lstStyle/>
                    <a:p>
                      <a:pPr algn="ctr">
                        <a:defRPr sz="1050" b="0">
                          <a:solidFill>
                            <a:srgbClr val="F8FAFC"/>
                          </a:solidFill>
                          <a:latin typeface="Calibri"/>
                        </a:defRPr>
                      </a:pPr>
                      <a:r>
                        <a:t>141 ms</a:t>
                      </a:r>
                    </a:p>
                  </a:txBody>
                  <a:tcPr>
                    <a:solidFill>
                      <a:srgbClr val="182235"/>
                    </a:solidFill>
                  </a:tcPr>
                </a:tc>
              </a:tr>
              <a:tr h="426720">
                <a:tc>
                  <a:txBody>
                    <a:bodyPr/>
                    <a:lstStyle/>
                    <a:p>
                      <a:pPr algn="l">
                        <a:defRPr sz="1050" b="1">
                          <a:solidFill>
                            <a:srgbClr val="F8FAFC"/>
                          </a:solidFill>
                          <a:latin typeface="Calibri"/>
                        </a:defRPr>
                      </a:pPr>
                      <a:r>
                        <a:t>Genuine ₹500 (Stone Grey - Worn &amp; Folded)</a:t>
                      </a:r>
                    </a:p>
                  </a:txBody>
                  <a:tcPr>
                    <a:solidFill>
                      <a:srgbClr val="1E293B"/>
                    </a:solidFill>
                  </a:tcPr>
                </a:tc>
                <a:tc>
                  <a:txBody>
                    <a:bodyPr/>
                    <a:lstStyle/>
                    <a:p>
                      <a:pPr algn="ctr">
                        <a:defRPr sz="1050" b="0">
                          <a:solidFill>
                            <a:srgbClr val="F8FAFC"/>
                          </a:solidFill>
                          <a:latin typeface="Calibri"/>
                        </a:defRPr>
                      </a:pPr>
                      <a:r>
                        <a:t>25 Notes</a:t>
                      </a:r>
                    </a:p>
                  </a:txBody>
                  <a:tcPr>
                    <a:solidFill>
                      <a:srgbClr val="1E293B"/>
                    </a:solidFill>
                  </a:tcPr>
                </a:tc>
                <a:tc>
                  <a:txBody>
                    <a:bodyPr/>
                    <a:lstStyle/>
                    <a:p>
                      <a:pPr algn="ctr">
                        <a:defRPr sz="1050" b="1">
                          <a:solidFill>
                            <a:srgbClr val="F8FAFC"/>
                          </a:solidFill>
                          <a:latin typeface="Calibri"/>
                        </a:defRPr>
                      </a:pPr>
                      <a:r>
                        <a:t>96.8%</a:t>
                      </a:r>
                    </a:p>
                  </a:txBody>
                  <a:tcPr>
                    <a:solidFill>
                      <a:srgbClr val="1E293B"/>
                    </a:solidFill>
                  </a:tcPr>
                </a:tc>
                <a:tc>
                  <a:txBody>
                    <a:bodyPr/>
                    <a:lstStyle/>
                    <a:p>
                      <a:pPr algn="ctr">
                        <a:defRPr sz="1050" b="0">
                          <a:solidFill>
                            <a:srgbClr val="F8FAFC"/>
                          </a:solidFill>
                          <a:latin typeface="Calibri"/>
                        </a:defRPr>
                      </a:pPr>
                      <a:r>
                        <a:t>91.8%</a:t>
                      </a:r>
                    </a:p>
                  </a:txBody>
                  <a:tcPr>
                    <a:solidFill>
                      <a:srgbClr val="1E293B"/>
                    </a:solidFill>
                  </a:tcPr>
                </a:tc>
                <a:tc>
                  <a:txBody>
                    <a:bodyPr/>
                    <a:lstStyle/>
                    <a:p>
                      <a:pPr algn="ctr">
                        <a:defRPr sz="1050" b="0">
                          <a:solidFill>
                            <a:srgbClr val="F8FAFC"/>
                          </a:solidFill>
                          <a:latin typeface="Calibri"/>
                        </a:defRPr>
                      </a:pPr>
                      <a:r>
                        <a:t>92.0%</a:t>
                      </a:r>
                    </a:p>
                  </a:txBody>
                  <a:tcPr>
                    <a:solidFill>
                      <a:srgbClr val="1E293B"/>
                    </a:solidFill>
                  </a:tcPr>
                </a:tc>
                <a:tc>
                  <a:txBody>
                    <a:bodyPr/>
                    <a:lstStyle/>
                    <a:p>
                      <a:pPr algn="ctr">
                        <a:defRPr sz="1050" b="0">
                          <a:solidFill>
                            <a:srgbClr val="F8FAFC"/>
                          </a:solidFill>
                          <a:latin typeface="Calibri"/>
                        </a:defRPr>
                      </a:pPr>
                      <a:r>
                        <a:t>144 ms</a:t>
                      </a:r>
                    </a:p>
                  </a:txBody>
                  <a:tcPr>
                    <a:solidFill>
                      <a:srgbClr val="1E293B"/>
                    </a:solidFill>
                  </a:tcPr>
                </a:tc>
              </a:tr>
              <a:tr h="426720">
                <a:tc>
                  <a:txBody>
                    <a:bodyPr/>
                    <a:lstStyle/>
                    <a:p>
                      <a:pPr algn="l">
                        <a:defRPr sz="1050" b="1">
                          <a:solidFill>
                            <a:srgbClr val="F8FAFC"/>
                          </a:solidFill>
                          <a:latin typeface="Calibri"/>
                        </a:defRPr>
                      </a:pPr>
                      <a:r>
                        <a:t>Genuine ₹2000 (Magenta - Reserve Batch)</a:t>
                      </a:r>
                    </a:p>
                  </a:txBody>
                  <a:tcPr>
                    <a:solidFill>
                      <a:srgbClr val="182235"/>
                    </a:solidFill>
                  </a:tcPr>
                </a:tc>
                <a:tc>
                  <a:txBody>
                    <a:bodyPr/>
                    <a:lstStyle/>
                    <a:p>
                      <a:pPr algn="ctr">
                        <a:defRPr sz="1050" b="0">
                          <a:solidFill>
                            <a:srgbClr val="F8FAFC"/>
                          </a:solidFill>
                          <a:latin typeface="Calibri"/>
                        </a:defRPr>
                      </a:pPr>
                      <a:r>
                        <a:t>15 Notes</a:t>
                      </a:r>
                    </a:p>
                  </a:txBody>
                  <a:tcPr>
                    <a:solidFill>
                      <a:srgbClr val="182235"/>
                    </a:solidFill>
                  </a:tcPr>
                </a:tc>
                <a:tc>
                  <a:txBody>
                    <a:bodyPr/>
                    <a:lstStyle/>
                    <a:p>
                      <a:pPr algn="ctr">
                        <a:defRPr sz="1050" b="1">
                          <a:solidFill>
                            <a:srgbClr val="F8FAFC"/>
                          </a:solidFill>
                          <a:latin typeface="Calibri"/>
                        </a:defRPr>
                      </a:pPr>
                      <a:r>
                        <a:t>99.0%</a:t>
                      </a:r>
                    </a:p>
                  </a:txBody>
                  <a:tcPr>
                    <a:solidFill>
                      <a:srgbClr val="182235"/>
                    </a:solidFill>
                  </a:tcPr>
                </a:tc>
                <a:tc>
                  <a:txBody>
                    <a:bodyPr/>
                    <a:lstStyle/>
                    <a:p>
                      <a:pPr algn="ctr">
                        <a:defRPr sz="1050" b="0">
                          <a:solidFill>
                            <a:srgbClr val="F8FAFC"/>
                          </a:solidFill>
                          <a:latin typeface="Calibri"/>
                        </a:defRPr>
                      </a:pPr>
                      <a:r>
                        <a:t>96.0%</a:t>
                      </a:r>
                    </a:p>
                  </a:txBody>
                  <a:tcPr>
                    <a:solidFill>
                      <a:srgbClr val="182235"/>
                    </a:solidFill>
                  </a:tcPr>
                </a:tc>
                <a:tc>
                  <a:txBody>
                    <a:bodyPr/>
                    <a:lstStyle/>
                    <a:p>
                      <a:pPr algn="ctr">
                        <a:defRPr sz="1050" b="0">
                          <a:solidFill>
                            <a:srgbClr val="F8FAFC"/>
                          </a:solidFill>
                          <a:latin typeface="Calibri"/>
                        </a:defRPr>
                      </a:pPr>
                      <a:r>
                        <a:t>93.3%</a:t>
                      </a:r>
                    </a:p>
                  </a:txBody>
                  <a:tcPr>
                    <a:solidFill>
                      <a:srgbClr val="182235"/>
                    </a:solidFill>
                  </a:tcPr>
                </a:tc>
                <a:tc>
                  <a:txBody>
                    <a:bodyPr/>
                    <a:lstStyle/>
                    <a:p>
                      <a:pPr algn="ctr">
                        <a:defRPr sz="1050" b="0">
                          <a:solidFill>
                            <a:srgbClr val="F8FAFC"/>
                          </a:solidFill>
                          <a:latin typeface="Calibri"/>
                        </a:defRPr>
                      </a:pPr>
                      <a:r>
                        <a:t>140 ms</a:t>
                      </a:r>
                    </a:p>
                  </a:txBody>
                  <a:tcPr>
                    <a:solidFill>
                      <a:srgbClr val="182235"/>
                    </a:solidFill>
                  </a:tcPr>
                </a:tc>
              </a:tr>
              <a:tr h="426720">
                <a:tc>
                  <a:txBody>
                    <a:bodyPr/>
                    <a:lstStyle/>
                    <a:p>
                      <a:pPr algn="l">
                        <a:defRPr sz="1050" b="1">
                          <a:solidFill>
                            <a:srgbClr val="F8FAFC"/>
                          </a:solidFill>
                          <a:latin typeface="Calibri"/>
                        </a:defRPr>
                      </a:pPr>
                      <a:r>
                        <a:t>Counterfeits (Inkjet, Laser Copies, Broken Strip)</a:t>
                      </a:r>
                    </a:p>
                  </a:txBody>
                  <a:tcPr>
                    <a:solidFill>
                      <a:srgbClr val="1E293B"/>
                    </a:solidFill>
                  </a:tcPr>
                </a:tc>
                <a:tc>
                  <a:txBody>
                    <a:bodyPr/>
                    <a:lstStyle/>
                    <a:p>
                      <a:pPr algn="ctr">
                        <a:defRPr sz="1050" b="0">
                          <a:solidFill>
                            <a:srgbClr val="F8FAFC"/>
                          </a:solidFill>
                          <a:latin typeface="Calibri"/>
                        </a:defRPr>
                      </a:pPr>
                      <a:r>
                        <a:t>40 Specimens</a:t>
                      </a:r>
                    </a:p>
                  </a:txBody>
                  <a:tcPr>
                    <a:solidFill>
                      <a:srgbClr val="1E293B"/>
                    </a:solidFill>
                  </a:tcPr>
                </a:tc>
                <a:tc>
                  <a:txBody>
                    <a:bodyPr/>
                    <a:lstStyle/>
                    <a:p>
                      <a:pPr algn="ctr">
                        <a:defRPr sz="1050" b="1">
                          <a:solidFill>
                            <a:srgbClr val="F8FAFC"/>
                          </a:solidFill>
                          <a:latin typeface="Calibri"/>
                        </a:defRPr>
                      </a:pPr>
                      <a:r>
                        <a:t>N/A (Defect)</a:t>
                      </a:r>
                    </a:p>
                  </a:txBody>
                  <a:tcPr>
                    <a:solidFill>
                      <a:srgbClr val="1E293B"/>
                    </a:solidFill>
                  </a:tcPr>
                </a:tc>
                <a:tc>
                  <a:txBody>
                    <a:bodyPr/>
                    <a:lstStyle/>
                    <a:p>
                      <a:pPr algn="ctr">
                        <a:defRPr sz="1050" b="0">
                          <a:solidFill>
                            <a:srgbClr val="F8FAFC"/>
                          </a:solidFill>
                          <a:latin typeface="Calibri"/>
                        </a:defRPr>
                      </a:pPr>
                      <a:r>
                        <a:t>92.5%</a:t>
                      </a:r>
                    </a:p>
                  </a:txBody>
                  <a:tcPr>
                    <a:solidFill>
                      <a:srgbClr val="1E293B"/>
                    </a:solidFill>
                  </a:tcPr>
                </a:tc>
                <a:tc>
                  <a:txBody>
                    <a:bodyPr/>
                    <a:lstStyle/>
                    <a:p>
                      <a:pPr algn="ctr">
                        <a:defRPr sz="1050" b="0">
                          <a:solidFill>
                            <a:srgbClr val="F8FAFC"/>
                          </a:solidFill>
                          <a:latin typeface="Calibri"/>
                        </a:defRPr>
                      </a:pPr>
                      <a:r>
                        <a:t>90.0%</a:t>
                      </a:r>
                    </a:p>
                  </a:txBody>
                  <a:tcPr>
                    <a:solidFill>
                      <a:srgbClr val="1E293B"/>
                    </a:solidFill>
                  </a:tcPr>
                </a:tc>
                <a:tc>
                  <a:txBody>
                    <a:bodyPr/>
                    <a:lstStyle/>
                    <a:p>
                      <a:pPr algn="ctr">
                        <a:defRPr sz="1050" b="0">
                          <a:solidFill>
                            <a:srgbClr val="F8FAFC"/>
                          </a:solidFill>
                          <a:latin typeface="Calibri"/>
                        </a:defRPr>
                      </a:pPr>
                      <a:r>
                        <a:t>146 ms</a:t>
                      </a:r>
                    </a:p>
                  </a:txBody>
                  <a:tcPr>
                    <a:solidFill>
                      <a:srgbClr val="1E293B"/>
                    </a:solidFill>
                  </a:tcPr>
                </a:tc>
              </a:tr>
            </a:tbl>
          </a:graphicData>
        </a:graphic>
      </p:graphicFrame>
      <p:sp>
        <p:nvSpPr>
          <p:cNvPr id="6" name="Rounded Rectangle 5"/>
          <p:cNvSpPr/>
          <p:nvPr/>
        </p:nvSpPr>
        <p:spPr>
          <a:xfrm>
            <a:off x="731520" y="4343400"/>
            <a:ext cx="2542032"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2600" b="1">
                <a:solidFill>
                  <a:srgbClr val="06B6D4"/>
                </a:solidFill>
                <a:latin typeface="Arial"/>
              </a:defRPr>
            </a:pPr>
            <a:r>
              <a:t>97.5%</a:t>
            </a:r>
          </a:p>
          <a:p>
            <a:pPr algn="ctr">
              <a:defRPr sz="1100" b="1">
                <a:solidFill>
                  <a:srgbClr val="F8FAFC"/>
                </a:solidFill>
                <a:latin typeface="Arial"/>
              </a:defRPr>
            </a:pPr>
            <a:r>
              <a:t>Denomination Accuracy</a:t>
            </a:r>
          </a:p>
          <a:p>
            <a:pPr algn="ctr">
              <a:defRPr sz="950">
                <a:solidFill>
                  <a:srgbClr val="94A3B8"/>
                </a:solidFill>
                <a:latin typeface="Calibri"/>
              </a:defRPr>
            </a:pPr>
            <a:r>
              <a:t>CART Decision Tree (CO4)</a:t>
            </a:r>
          </a:p>
        </p:txBody>
      </p:sp>
      <p:sp>
        <p:nvSpPr>
          <p:cNvPr id="7" name="Rounded Rectangle 6"/>
          <p:cNvSpPr/>
          <p:nvPr/>
        </p:nvSpPr>
        <p:spPr>
          <a:xfrm>
            <a:off x="3456432" y="4343400"/>
            <a:ext cx="2542032"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2600" b="1">
                <a:solidFill>
                  <a:srgbClr val="10B981"/>
                </a:solidFill>
                <a:latin typeface="Arial"/>
              </a:defRPr>
            </a:pPr>
            <a:r>
              <a:t>100.0%</a:t>
            </a:r>
          </a:p>
          <a:p>
            <a:pPr algn="ctr">
              <a:defRPr sz="1100" b="1">
                <a:solidFill>
                  <a:srgbClr val="F8FAFC"/>
                </a:solidFill>
                <a:latin typeface="Arial"/>
              </a:defRPr>
            </a:pPr>
            <a:r>
              <a:t>Counterfeit AI Accuracy</a:t>
            </a:r>
          </a:p>
          <a:p>
            <a:pPr algn="ctr">
              <a:defRPr sz="950">
                <a:solidFill>
                  <a:srgbClr val="94A3B8"/>
                </a:solidFill>
                <a:latin typeface="Calibri"/>
              </a:defRPr>
            </a:pPr>
            <a:r>
              <a:t>Soft-Voting Ensemble (CO4)</a:t>
            </a:r>
          </a:p>
        </p:txBody>
      </p:sp>
      <p:sp>
        <p:nvSpPr>
          <p:cNvPr id="8" name="Rounded Rectangle 7"/>
          <p:cNvSpPr/>
          <p:nvPr/>
        </p:nvSpPr>
        <p:spPr>
          <a:xfrm>
            <a:off x="6181344" y="4343400"/>
            <a:ext cx="2542032"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2600" b="1">
                <a:solidFill>
                  <a:srgbClr val="F59E0B"/>
                </a:solidFill>
                <a:latin typeface="Arial"/>
              </a:defRPr>
            </a:pPr>
            <a:r>
              <a:t>99.9%</a:t>
            </a:r>
          </a:p>
          <a:p>
            <a:pPr algn="ctr">
              <a:defRPr sz="1100" b="1">
                <a:solidFill>
                  <a:srgbClr val="F8FAFC"/>
                </a:solidFill>
                <a:latin typeface="Arial"/>
              </a:defRPr>
            </a:pPr>
            <a:r>
              <a:t>5-Fold CV Score</a:t>
            </a:r>
          </a:p>
          <a:p>
            <a:pPr algn="ctr">
              <a:defRPr sz="950">
                <a:solidFill>
                  <a:srgbClr val="94A3B8"/>
                </a:solidFill>
                <a:latin typeface="Calibri"/>
              </a:defRPr>
            </a:pPr>
            <a:r>
              <a:t>Deep MLP Neural Net &amp; RF</a:t>
            </a:r>
          </a:p>
        </p:txBody>
      </p:sp>
      <p:sp>
        <p:nvSpPr>
          <p:cNvPr id="9" name="Rounded Rectangle 8"/>
          <p:cNvSpPr/>
          <p:nvPr/>
        </p:nvSpPr>
        <p:spPr>
          <a:xfrm>
            <a:off x="8906256" y="4343400"/>
            <a:ext cx="2542032"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200"/>
              </a:spcAft>
              <a:defRPr sz="2600" b="1">
                <a:solidFill>
                  <a:srgbClr val="2563EB"/>
                </a:solidFill>
                <a:latin typeface="Arial"/>
              </a:defRPr>
            </a:pPr>
            <a:r>
              <a:t>142 ms</a:t>
            </a:r>
          </a:p>
          <a:p>
            <a:pPr algn="ctr">
              <a:defRPr sz="1100" b="1">
                <a:solidFill>
                  <a:srgbClr val="F8FAFC"/>
                </a:solidFill>
                <a:latin typeface="Arial"/>
              </a:defRPr>
            </a:pPr>
            <a:r>
              <a:t>End-to-End Latency</a:t>
            </a:r>
          </a:p>
          <a:p>
            <a:pPr algn="ctr">
              <a:defRPr sz="950">
                <a:solidFill>
                  <a:srgbClr val="94A3B8"/>
                </a:solidFill>
                <a:latin typeface="Calibri"/>
              </a:defRPr>
            </a:pPr>
            <a:r>
              <a:t>~7.0 FPS on standard CPU</a:t>
            </a:r>
          </a:p>
        </p:txBody>
      </p:sp>
      <p:sp>
        <p:nvSpPr>
          <p:cNvPr id="10" name="Rounded Rectangle 9"/>
          <p:cNvSpPr/>
          <p:nvPr/>
        </p:nvSpPr>
        <p:spPr>
          <a:xfrm>
            <a:off x="731520" y="5943600"/>
            <a:ext cx="10716768" cy="502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Arial"/>
              </a:defRPr>
            </a:pPr>
            <a:r>
              <a:t>FAILURE MODE MITIGATION: Windowed periodicity filters resolve creased-note false alarms  |  Gray-World eliminates 2700K lighting bias.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3: HARSHI | SPEAKER 3 (6:40 - 10:00)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11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10 | Individual Work Distribution &amp; Course Outcome Mapping</a:t>
            </a:r>
          </a:p>
        </p:txBody>
      </p:sp>
      <p:sp>
        <p:nvSpPr>
          <p:cNvPr id="5" name="Rounded Rectangle 4"/>
          <p:cNvSpPr/>
          <p:nvPr/>
        </p:nvSpPr>
        <p:spPr>
          <a:xfrm>
            <a:off x="731520"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SOHAM</a:t>
            </a:r>
          </a:p>
          <a:p>
            <a:pPr>
              <a:spcAft>
                <a:spcPts val="800"/>
              </a:spcAft>
              <a:defRPr sz="1000" b="1">
                <a:solidFill>
                  <a:srgbClr val="A5F3FC"/>
                </a:solidFill>
                <a:latin typeface="Arial"/>
              </a:defRPr>
            </a:pPr>
            <a:r>
              <a:t>Roll: 70012023001  |  Course Outcomes: CO1 &amp; CV</a:t>
            </a:r>
          </a:p>
          <a:p>
            <a:pPr>
              <a:spcAft>
                <a:spcPts val="600"/>
              </a:spcAft>
            </a:pPr>
            <a:r>
              <a:rPr sz="950" b="1">
                <a:solidFill>
                  <a:srgbClr val="F8FAFC"/>
                </a:solidFill>
                <a:latin typeface="Arial"/>
              </a:rPr>
              <a:t>• Formal PEAS Agent Modeling: </a:t>
            </a:r>
            <a:r>
              <a:rPr sz="950">
                <a:solidFill>
                  <a:srgbClr val="F8FAFC"/>
                </a:solidFill>
                <a:latin typeface="Calibri"/>
              </a:rPr>
              <a:t>Formulated Performance measures, Environment, Actuators, Sensors, and environment taxonomy (CO1).</a:t>
            </a:r>
          </a:p>
          <a:p>
            <a:pPr>
              <a:spcAft>
                <a:spcPts val="600"/>
              </a:spcAft>
            </a:pPr>
            <a:r>
              <a:rPr sz="950" b="1">
                <a:solidFill>
                  <a:srgbClr val="F8FAFC"/>
                </a:solidFill>
                <a:latin typeface="Arial"/>
              </a:rPr>
              <a:t>• Ingestion &amp; Noise Filtering: </a:t>
            </a:r>
            <a:r>
              <a:rPr sz="950">
                <a:solidFill>
                  <a:srgbClr val="F8FAFC"/>
                </a:solidFill>
                <a:latin typeface="Calibri"/>
              </a:rPr>
              <a:t>Implemented bilateral filtering (d=7, sigma=50) and adaptive Otsu-Canny edge detection.</a:t>
            </a:r>
          </a:p>
          <a:p>
            <a:pPr>
              <a:spcAft>
                <a:spcPts val="600"/>
              </a:spcAft>
            </a:pPr>
            <a:r>
              <a:rPr sz="950" b="1">
                <a:solidFill>
                  <a:srgbClr val="F8FAFC"/>
                </a:solidFill>
                <a:latin typeface="Arial"/>
              </a:rPr>
              <a:t>• Perspective Homography: </a:t>
            </a:r>
            <a:r>
              <a:rPr sz="950">
                <a:solidFill>
                  <a:srgbClr val="F8FAFC"/>
                </a:solidFill>
                <a:latin typeface="Calibri"/>
              </a:rPr>
              <a:t>Engineered 4-point perspective warp matrix to transform skewed video into canonical 600x270 px plane.</a:t>
            </a:r>
          </a:p>
          <a:p>
            <a:pPr>
              <a:spcAft>
                <a:spcPts val="600"/>
              </a:spcAft>
            </a:pPr>
            <a:r>
              <a:rPr sz="950" b="1">
                <a:solidFill>
                  <a:srgbClr val="F8FAFC"/>
                </a:solidFill>
                <a:latin typeface="Arial"/>
              </a:rPr>
              <a:t>• Color Constancy &amp; Auto-Rotate: </a:t>
            </a:r>
            <a:r>
              <a:rPr sz="950">
                <a:solidFill>
                  <a:srgbClr val="F8FAFC"/>
                </a:solidFill>
                <a:latin typeface="Calibri"/>
              </a:rPr>
              <a:t>Implemented Gray-World illuminant normalization and 180° obverse auto-orientation.</a:t>
            </a:r>
          </a:p>
        </p:txBody>
      </p:sp>
      <p:sp>
        <p:nvSpPr>
          <p:cNvPr id="6" name="Rounded Rectangle 5"/>
          <p:cNvSpPr/>
          <p:nvPr/>
        </p:nvSpPr>
        <p:spPr>
          <a:xfrm>
            <a:off x="4425696"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ETHAN</a:t>
            </a:r>
          </a:p>
          <a:p>
            <a:pPr>
              <a:spcAft>
                <a:spcPts val="800"/>
              </a:spcAft>
              <a:defRPr sz="1000" b="1">
                <a:solidFill>
                  <a:srgbClr val="A5F3FC"/>
                </a:solidFill>
                <a:latin typeface="Arial"/>
              </a:defRPr>
            </a:pPr>
            <a:r>
              <a:t>Roll: 70012023002  |  Course Outcomes: CO4 (Supervised &amp; Unsupervised)</a:t>
            </a:r>
          </a:p>
          <a:p>
            <a:pPr>
              <a:spcAft>
                <a:spcPts val="600"/>
              </a:spcAft>
            </a:pPr>
            <a:r>
              <a:rPr sz="950" b="1">
                <a:solidFill>
                  <a:srgbClr val="F8FAFC"/>
                </a:solidFill>
                <a:latin typeface="Arial"/>
              </a:rPr>
              <a:t>• Supervised CART Classifier: </a:t>
            </a:r>
            <a:r>
              <a:rPr sz="950">
                <a:solidFill>
                  <a:srgbClr val="F8FAFC"/>
                </a:solidFill>
                <a:latin typeface="Calibri"/>
              </a:rPr>
              <a:t>Trained Decision Tree (max_depth=5, entropy) for denomination recognition with 97.2% accuracy (CO4).</a:t>
            </a:r>
          </a:p>
          <a:p>
            <a:pPr>
              <a:spcAft>
                <a:spcPts val="600"/>
              </a:spcAft>
            </a:pPr>
            <a:r>
              <a:rPr sz="950" b="1">
                <a:solidFill>
                  <a:srgbClr val="F8FAFC"/>
                </a:solidFill>
                <a:latin typeface="Arial"/>
              </a:rPr>
              <a:t>• Color Moment Feature Design: </a:t>
            </a:r>
            <a:r>
              <a:rPr sz="950">
                <a:solidFill>
                  <a:srgbClr val="F8FAFC"/>
                </a:solidFill>
                <a:latin typeface="Calibri"/>
              </a:rPr>
              <a:t>Engineered 7D statistical feature vector: [H_mean, H_std, S_mean, S_std, V_mean, V_std, AR].</a:t>
            </a:r>
          </a:p>
          <a:p>
            <a:pPr>
              <a:spcAft>
                <a:spcPts val="600"/>
              </a:spcAft>
            </a:pPr>
            <a:r>
              <a:rPr sz="950" b="1">
                <a:solidFill>
                  <a:srgbClr val="F8FAFC"/>
                </a:solidFill>
                <a:latin typeface="Arial"/>
              </a:rPr>
              <a:t>• Unsupervised K-Means: </a:t>
            </a:r>
            <a:r>
              <a:rPr sz="950">
                <a:solidFill>
                  <a:srgbClr val="F8FAFC"/>
                </a:solidFill>
                <a:latin typeface="Calibri"/>
              </a:rPr>
              <a:t>Formulated 6D [RGB+HSV] K-Means clustering (k=3) for metallic thread segmentation (CO4).</a:t>
            </a:r>
          </a:p>
          <a:p>
            <a:pPr>
              <a:spcAft>
                <a:spcPts val="600"/>
              </a:spcAft>
            </a:pPr>
            <a:r>
              <a:rPr sz="950" b="1">
                <a:solidFill>
                  <a:srgbClr val="F8FAFC"/>
                </a:solidFill>
                <a:latin typeface="Arial"/>
              </a:rPr>
              <a:t>• Mathematical Continuity Index: </a:t>
            </a:r>
            <a:r>
              <a:rPr sz="950">
                <a:solidFill>
                  <a:srgbClr val="F8FAFC"/>
                </a:solidFill>
                <a:latin typeface="Calibri"/>
              </a:rPr>
              <a:t>Derived mathematical vertical continuity index and windowed periodicity logic.</a:t>
            </a:r>
          </a:p>
        </p:txBody>
      </p:sp>
      <p:sp>
        <p:nvSpPr>
          <p:cNvPr id="7" name="Rounded Rectangle 6"/>
          <p:cNvSpPr/>
          <p:nvPr/>
        </p:nvSpPr>
        <p:spPr>
          <a:xfrm>
            <a:off x="8119872"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HARSHI</a:t>
            </a:r>
          </a:p>
          <a:p>
            <a:pPr>
              <a:spcAft>
                <a:spcPts val="800"/>
              </a:spcAft>
              <a:defRPr sz="1000" b="1">
                <a:solidFill>
                  <a:srgbClr val="A5F3FC"/>
                </a:solidFill>
                <a:latin typeface="Arial"/>
              </a:defRPr>
            </a:pPr>
            <a:r>
              <a:t>Roll: 70012023003  |  Course Outcomes: CO3 &amp; System Integration</a:t>
            </a:r>
          </a:p>
          <a:p>
            <a:pPr>
              <a:spcAft>
                <a:spcPts val="600"/>
              </a:spcAft>
            </a:pPr>
            <a:r>
              <a:rPr sz="950" b="1">
                <a:solidFill>
                  <a:srgbClr val="F8FAFC"/>
                </a:solidFill>
                <a:latin typeface="Arial"/>
              </a:rPr>
              <a:t>• Forward-Chaining Expert Rules: </a:t>
            </a:r>
            <a:r>
              <a:rPr sz="950">
                <a:solidFill>
                  <a:srgbClr val="F8FAFC"/>
                </a:solidFill>
                <a:latin typeface="Calibri"/>
              </a:rPr>
              <a:t>Engineered inference engine evaluating production rules (Dimensions, Thread, Color, Watermark) (CO3).</a:t>
            </a:r>
          </a:p>
          <a:p>
            <a:pPr>
              <a:spcAft>
                <a:spcPts val="600"/>
              </a:spcAft>
            </a:pPr>
            <a:r>
              <a:rPr sz="950" b="1">
                <a:solidFill>
                  <a:srgbClr val="F8FAFC"/>
                </a:solidFill>
                <a:latin typeface="Arial"/>
              </a:rPr>
              <a:t>• Conflict Resolution Strategy: </a:t>
            </a:r>
            <a:r>
              <a:rPr sz="950">
                <a:solidFill>
                  <a:srgbClr val="F8FAFC"/>
                </a:solidFill>
                <a:latin typeface="Calibri"/>
              </a:rPr>
              <a:t>Designed weighted penalty accumulation scoring and 3-tier verdict classification logic.</a:t>
            </a:r>
          </a:p>
          <a:p>
            <a:pPr>
              <a:spcAft>
                <a:spcPts val="600"/>
              </a:spcAft>
            </a:pPr>
            <a:r>
              <a:rPr sz="950" b="1">
                <a:solidFill>
                  <a:srgbClr val="F8FAFC"/>
                </a:solidFill>
                <a:latin typeface="Arial"/>
              </a:rPr>
              <a:t>• Streamlit Real-Time Dashboard: </a:t>
            </a:r>
            <a:r>
              <a:rPr sz="950">
                <a:solidFill>
                  <a:srgbClr val="F8FAFC"/>
                </a:solidFill>
                <a:latin typeface="Calibri"/>
              </a:rPr>
              <a:t>Developed interactive UI with live HUD overlays, diagnostic checklists, and Web Audio alerts.</a:t>
            </a:r>
          </a:p>
          <a:p>
            <a:pPr>
              <a:spcAft>
                <a:spcPts val="600"/>
              </a:spcAft>
            </a:pPr>
            <a:r>
              <a:rPr sz="950" b="1">
                <a:solidFill>
                  <a:srgbClr val="F8FAFC"/>
                </a:solidFill>
                <a:latin typeface="Arial"/>
              </a:rPr>
              <a:t>• Benchmarking &amp; Failure Analysis: </a:t>
            </a:r>
            <a:r>
              <a:rPr sz="950">
                <a:solidFill>
                  <a:srgbClr val="F8FAFC"/>
                </a:solidFill>
                <a:latin typeface="Calibri"/>
              </a:rPr>
              <a:t>Compiled 120-specimen test dataset, conducted failure analysis, and benchmarked pipeline latencies.</a:t>
            </a:r>
          </a:p>
        </p:txBody>
      </p:sp>
      <p:sp>
        <p:nvSpPr>
          <p:cNvPr id="8" name="Rounded Rectangle 7"/>
          <p:cNvSpPr/>
          <p:nvPr/>
        </p:nvSpPr>
        <p:spPr>
          <a:xfrm>
            <a:off x="731520" y="5806440"/>
            <a:ext cx="10716768" cy="502920"/>
          </a:xfrm>
          <a:prstGeom prst="roundRect">
            <a:avLst/>
          </a:prstGeom>
          <a:solidFill>
            <a:srgbClr val="1822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Arial"/>
              </a:defRPr>
            </a:pPr>
            <a:r>
              <a:t>COLLABORATIVE ALIGNMENT: 100% individual module completion with seamless pipeline integration across all three team members.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4114800" cy="320040"/>
          </a:xfrm>
          <a:prstGeom prst="roundRect">
            <a:avLst/>
          </a:prstGeom>
          <a:solidFill>
            <a:srgbClr val="141E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6B6D4"/>
                </a:solidFill>
                <a:latin typeface="Arial"/>
              </a:defRPr>
            </a:pPr>
            <a:r>
              <a:t>SECTION 3: HARSHI | SPEAKER 3 (6:40 - 10:00)</a:t>
            </a:r>
          </a:p>
        </p:txBody>
      </p:sp>
      <p:sp>
        <p:nvSpPr>
          <p:cNvPr id="3" name="Rounded Rectangle 2"/>
          <p:cNvSpPr/>
          <p:nvPr/>
        </p:nvSpPr>
        <p:spPr>
          <a:xfrm>
            <a:off x="10332720" y="365760"/>
            <a:ext cx="1097280" cy="320040"/>
          </a:xfrm>
          <a:prstGeom prst="roundRect">
            <a:avLst/>
          </a:prstGeom>
          <a:solidFill>
            <a:srgbClr val="141E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4A3B8"/>
                </a:solidFill>
                <a:latin typeface="Arial"/>
              </a:defRPr>
            </a:pPr>
            <a:r>
              <a:t>12 / 12</a:t>
            </a:r>
          </a:p>
        </p:txBody>
      </p:sp>
      <p:sp>
        <p:nvSpPr>
          <p:cNvPr id="4" name="TextBox 3"/>
          <p:cNvSpPr txBox="1"/>
          <p:nvPr/>
        </p:nvSpPr>
        <p:spPr>
          <a:xfrm>
            <a:off x="731520" y="777240"/>
            <a:ext cx="10698480" cy="594360"/>
          </a:xfrm>
          <a:prstGeom prst="rect">
            <a:avLst/>
          </a:prstGeom>
          <a:noFill/>
        </p:spPr>
        <p:txBody>
          <a:bodyPr wrap="square" tIns="0" bIns="0" lIns="0" rIns="0">
            <a:spAutoFit/>
          </a:bodyPr>
          <a:lstStyle/>
          <a:p>
            <a:pPr>
              <a:defRPr sz="2000" b="1">
                <a:solidFill>
                  <a:srgbClr val="F8FAFC"/>
                </a:solidFill>
                <a:latin typeface="Arial"/>
              </a:defRPr>
            </a:pPr>
            <a:r>
              <a:t>11 | Conclusion, Future Roadmap &amp; References</a:t>
            </a:r>
          </a:p>
        </p:txBody>
      </p:sp>
      <p:sp>
        <p:nvSpPr>
          <p:cNvPr id="5" name="Rounded Rectangle 4"/>
          <p:cNvSpPr/>
          <p:nvPr/>
        </p:nvSpPr>
        <p:spPr>
          <a:xfrm>
            <a:off x="731520"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06B6D4"/>
                </a:solidFill>
                <a:latin typeface="Arial"/>
              </a:defRPr>
            </a:pPr>
            <a:r>
              <a:t>Key Project Conclusions</a:t>
            </a:r>
          </a:p>
          <a:p>
            <a:pPr>
              <a:spcAft>
                <a:spcPts val="600"/>
              </a:spcAft>
            </a:pPr>
            <a:r>
              <a:rPr sz="1050" b="1">
                <a:solidFill>
                  <a:srgbClr val="A5F3FC"/>
                </a:solidFill>
                <a:latin typeface="Arial"/>
              </a:rPr>
              <a:t>• Curriculum Objectives Met: </a:t>
            </a:r>
            <a:r>
              <a:rPr sz="1050">
                <a:solidFill>
                  <a:srgbClr val="F8FAFC"/>
                </a:solidFill>
                <a:latin typeface="Calibri"/>
              </a:rPr>
              <a:t>Successfully fulfilled CO1 (PEAS Rational Agent), CO3 (Forward-Chaining Expert System), and CO4 (Supervised CART &amp; Unsupervised K-Means).</a:t>
            </a:r>
          </a:p>
          <a:p>
            <a:pPr>
              <a:spcAft>
                <a:spcPts val="600"/>
              </a:spcAft>
            </a:pPr>
            <a:r>
              <a:rPr sz="1050" b="1">
                <a:solidFill>
                  <a:srgbClr val="A5F3FC"/>
                </a:solidFill>
                <a:latin typeface="Arial"/>
              </a:rPr>
              <a:t>• Zero Hardware Cost: </a:t>
            </a:r>
            <a:r>
              <a:rPr sz="1050">
                <a:solidFill>
                  <a:srgbClr val="F8FAFC"/>
                </a:solidFill>
                <a:latin typeface="Calibri"/>
              </a:rPr>
              <a:t>Replaced expensive ₹50,000+ sorters with a lightweight software agent running on ordinary consumer webcams.</a:t>
            </a:r>
          </a:p>
          <a:p>
            <a:pPr>
              <a:spcAft>
                <a:spcPts val="600"/>
              </a:spcAft>
            </a:pPr>
            <a:r>
              <a:rPr sz="1050" b="1">
                <a:solidFill>
                  <a:srgbClr val="A5F3FC"/>
                </a:solidFill>
                <a:latin typeface="Arial"/>
              </a:rPr>
              <a:t>• High Operational Fidelity: </a:t>
            </a:r>
            <a:r>
              <a:rPr sz="1050">
                <a:solidFill>
                  <a:srgbClr val="F8FAFC"/>
                </a:solidFill>
                <a:latin typeface="Calibri"/>
              </a:rPr>
              <a:t>97.2% denomination accuracy and 92.5% counterfeit detection precision at real-time 142 ms latency.</a:t>
            </a:r>
          </a:p>
          <a:p>
            <a:pPr>
              <a:spcAft>
                <a:spcPts val="600"/>
              </a:spcAft>
            </a:pPr>
            <a:r>
              <a:rPr sz="1050" b="1">
                <a:solidFill>
                  <a:srgbClr val="A5F3FC"/>
                </a:solidFill>
                <a:latin typeface="Arial"/>
              </a:rPr>
              <a:t>• Full Explainability: </a:t>
            </a:r>
            <a:r>
              <a:rPr sz="1050">
                <a:solidFill>
                  <a:srgbClr val="F8FAFC"/>
                </a:solidFill>
                <a:latin typeface="Calibri"/>
              </a:rPr>
              <a:t>Deterministic rule traces eliminate deep learning black-box risks, providing transparent forensic auditability.</a:t>
            </a:r>
          </a:p>
        </p:txBody>
      </p:sp>
      <p:sp>
        <p:nvSpPr>
          <p:cNvPr id="6" name="Rounded Rectangle 5"/>
          <p:cNvSpPr/>
          <p:nvPr/>
        </p:nvSpPr>
        <p:spPr>
          <a:xfrm>
            <a:off x="4425696"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10B981"/>
                </a:solidFill>
                <a:latin typeface="Arial"/>
              </a:defRPr>
            </a:pPr>
            <a:r>
              <a:t>Future Engineering Scope</a:t>
            </a:r>
          </a:p>
          <a:p>
            <a:pPr>
              <a:spcAft>
                <a:spcPts val="600"/>
              </a:spcAft>
            </a:pPr>
            <a:r>
              <a:rPr sz="1050" b="1">
                <a:solidFill>
                  <a:srgbClr val="A5F3FC"/>
                </a:solidFill>
                <a:latin typeface="Arial"/>
              </a:rPr>
              <a:t>• Low-Cost UV LED Ring: </a:t>
            </a:r>
            <a:r>
              <a:rPr sz="1050">
                <a:solidFill>
                  <a:srgbClr val="F8FAFC"/>
                </a:solidFill>
                <a:latin typeface="Calibri"/>
              </a:rPr>
              <a:t>Integrate a 365 nm UV-A auxiliary LED ring powered via USB to trigger optical fluorescence in central bank security fibers.</a:t>
            </a:r>
          </a:p>
          <a:p>
            <a:pPr>
              <a:spcAft>
                <a:spcPts val="600"/>
              </a:spcAft>
            </a:pPr>
            <a:r>
              <a:rPr sz="1050" b="1">
                <a:solidFill>
                  <a:srgbClr val="A5F3FC"/>
                </a:solidFill>
                <a:latin typeface="Arial"/>
              </a:rPr>
              <a:t>• Edge &amp; Mobile Deployment: </a:t>
            </a:r>
            <a:r>
              <a:rPr sz="1050">
                <a:solidFill>
                  <a:srgbClr val="F8FAFC"/>
                </a:solidFill>
                <a:latin typeface="Calibri"/>
              </a:rPr>
              <a:t>Export Decision Tree and OpenCV pipelines to ONNX runtime for deployment on low-cost Raspberry Pi 4 nodes and Flutter mobile apps.</a:t>
            </a:r>
          </a:p>
          <a:p>
            <a:pPr>
              <a:spcAft>
                <a:spcPts val="600"/>
              </a:spcAft>
            </a:pPr>
            <a:r>
              <a:rPr sz="1050" b="1">
                <a:solidFill>
                  <a:srgbClr val="A5F3FC"/>
                </a:solidFill>
                <a:latin typeface="Arial"/>
              </a:rPr>
              <a:t>• Deep OCR for Microtext: </a:t>
            </a:r>
            <a:r>
              <a:rPr sz="1050">
                <a:solidFill>
                  <a:srgbClr val="F8FAFC"/>
                </a:solidFill>
                <a:latin typeface="Calibri"/>
              </a:rPr>
              <a:t>Incorporate lightweight CRNN OCR to read micro-inscriptions ('RBI' / 'भारत') along the metallic security thread.</a:t>
            </a:r>
          </a:p>
          <a:p>
            <a:pPr>
              <a:spcAft>
                <a:spcPts val="600"/>
              </a:spcAft>
            </a:pPr>
            <a:r>
              <a:rPr sz="1050" b="1">
                <a:solidFill>
                  <a:srgbClr val="A5F3FC"/>
                </a:solidFill>
                <a:latin typeface="Arial"/>
              </a:rPr>
              <a:t>• Serial Number Progression: </a:t>
            </a:r>
            <a:r>
              <a:rPr sz="1050">
                <a:solidFill>
                  <a:srgbClr val="F8FAFC"/>
                </a:solidFill>
                <a:latin typeface="Calibri"/>
              </a:rPr>
              <a:t>Add alphanumeric OCR to detect duplicate or non-sequential counterfeit serial numbers.</a:t>
            </a:r>
          </a:p>
        </p:txBody>
      </p:sp>
      <p:sp>
        <p:nvSpPr>
          <p:cNvPr id="7" name="Rounded Rectangle 6"/>
          <p:cNvSpPr/>
          <p:nvPr/>
        </p:nvSpPr>
        <p:spPr>
          <a:xfrm>
            <a:off x="8119872" y="1554480"/>
            <a:ext cx="3328416" cy="4114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300" b="1">
                <a:solidFill>
                  <a:srgbClr val="F59E0B"/>
                </a:solidFill>
                <a:latin typeface="Arial"/>
              </a:defRPr>
            </a:pPr>
            <a:r>
              <a:t>Academic References (IEEE)</a:t>
            </a:r>
          </a:p>
          <a:p>
            <a:pPr>
              <a:spcAft>
                <a:spcPts val="600"/>
              </a:spcAft>
            </a:pPr>
            <a:r>
              <a:rPr sz="1050" b="1">
                <a:solidFill>
                  <a:srgbClr val="A5F3FC"/>
                </a:solidFill>
                <a:latin typeface="Arial"/>
              </a:rPr>
              <a:t>• [1] Russell &amp; Norvig: </a:t>
            </a:r>
            <a:r>
              <a:rPr sz="1050">
                <a:solidFill>
                  <a:srgbClr val="F8FAFC"/>
                </a:solidFill>
                <a:latin typeface="Calibri"/>
              </a:rPr>
              <a:t>Artificial Intelligence: A Modern Approach, 4th ed. Pearson Education, 2020.</a:t>
            </a:r>
          </a:p>
          <a:p>
            <a:pPr>
              <a:spcAft>
                <a:spcPts val="600"/>
              </a:spcAft>
            </a:pPr>
            <a:r>
              <a:rPr sz="1050" b="1">
                <a:solidFill>
                  <a:srgbClr val="A5F3FC"/>
                </a:solidFill>
                <a:latin typeface="Arial"/>
              </a:rPr>
              <a:t>• [2] Reserve Bank of India: </a:t>
            </a:r>
            <a:r>
              <a:rPr sz="1050">
                <a:solidFill>
                  <a:srgbClr val="F8FAFC"/>
                </a:solidFill>
                <a:latin typeface="Calibri"/>
              </a:rPr>
              <a:t>Master Direction – Detection and Impounding of Counterfeit Notes, RBI Master Circular 2023-24.</a:t>
            </a:r>
          </a:p>
          <a:p>
            <a:pPr>
              <a:spcAft>
                <a:spcPts val="600"/>
              </a:spcAft>
            </a:pPr>
            <a:r>
              <a:rPr sz="1050" b="1">
                <a:solidFill>
                  <a:srgbClr val="A5F3FC"/>
                </a:solidFill>
                <a:latin typeface="Arial"/>
              </a:rPr>
              <a:t>• [3] Gonzalez &amp; Woods: </a:t>
            </a:r>
            <a:r>
              <a:rPr sz="1050">
                <a:solidFill>
                  <a:srgbClr val="F8FAFC"/>
                </a:solidFill>
                <a:latin typeface="Calibri"/>
              </a:rPr>
              <a:t>Digital Image Processing, 4th ed. Pearson, 2018.</a:t>
            </a:r>
          </a:p>
          <a:p>
            <a:pPr>
              <a:spcAft>
                <a:spcPts val="600"/>
              </a:spcAft>
            </a:pPr>
            <a:r>
              <a:rPr sz="1050" b="1">
                <a:solidFill>
                  <a:srgbClr val="A5F3FC"/>
                </a:solidFill>
                <a:latin typeface="Arial"/>
              </a:rPr>
              <a:t>• [4] Breiman et al.: </a:t>
            </a:r>
            <a:r>
              <a:rPr sz="1050">
                <a:solidFill>
                  <a:srgbClr val="F8FAFC"/>
                </a:solidFill>
                <a:latin typeface="Calibri"/>
              </a:rPr>
              <a:t>Classification and Regression Trees. Wadsworth, 1984.</a:t>
            </a:r>
          </a:p>
          <a:p>
            <a:pPr>
              <a:spcAft>
                <a:spcPts val="600"/>
              </a:spcAft>
            </a:pPr>
            <a:r>
              <a:rPr sz="1050" b="1">
                <a:solidFill>
                  <a:srgbClr val="A5F3FC"/>
                </a:solidFill>
                <a:latin typeface="Arial"/>
              </a:rPr>
              <a:t>• [5] MacQueen: </a:t>
            </a:r>
            <a:r>
              <a:rPr sz="1050">
                <a:solidFill>
                  <a:srgbClr val="F8FAFC"/>
                </a:solidFill>
                <a:latin typeface="Calibri"/>
              </a:rPr>
              <a:t>Methods for classification and analysis of multivariate observations. 5th Berkeley Symp., 1967.</a:t>
            </a:r>
          </a:p>
        </p:txBody>
      </p:sp>
      <p:sp>
        <p:nvSpPr>
          <p:cNvPr id="8" name="Rounded Rectangle 7"/>
          <p:cNvSpPr/>
          <p:nvPr/>
        </p:nvSpPr>
        <p:spPr>
          <a:xfrm>
            <a:off x="731520" y="5806440"/>
            <a:ext cx="10716768" cy="59436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5F3FC"/>
                </a:solidFill>
                <a:latin typeface="Arial"/>
              </a:defRPr>
            </a:pPr>
            <a:r>
              <a:t>DEFENSE CONCLUSION: Thank you, Prof. Yukta Vishnoi and examination committee. We now invite your questions for the project viva.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